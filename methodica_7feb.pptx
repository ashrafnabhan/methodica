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4210" r:id="rId1"/>
  </p:sldMasterIdLst>
  <p:notesMasterIdLst>
    <p:notesMasterId r:id="rId55"/>
  </p:notesMasterIdLst>
  <p:sldIdLst>
    <p:sldId id="1636" r:id="rId2"/>
    <p:sldId id="368" r:id="rId3"/>
    <p:sldId id="1637" r:id="rId4"/>
    <p:sldId id="1647" r:id="rId5"/>
    <p:sldId id="1638" r:id="rId6"/>
    <p:sldId id="1524" r:id="rId7"/>
    <p:sldId id="1634" r:id="rId8"/>
    <p:sldId id="1398" r:id="rId9"/>
    <p:sldId id="1350" r:id="rId10"/>
    <p:sldId id="1482" r:id="rId11"/>
    <p:sldId id="1408" r:id="rId12"/>
    <p:sldId id="1593" r:id="rId13"/>
    <p:sldId id="1412" r:id="rId14"/>
    <p:sldId id="1562" r:id="rId15"/>
    <p:sldId id="1563" r:id="rId16"/>
    <p:sldId id="1564" r:id="rId17"/>
    <p:sldId id="1565" r:id="rId18"/>
    <p:sldId id="1418" r:id="rId19"/>
    <p:sldId id="1419" r:id="rId20"/>
    <p:sldId id="1640" r:id="rId21"/>
    <p:sldId id="1567" r:id="rId22"/>
    <p:sldId id="1568" r:id="rId23"/>
    <p:sldId id="1641" r:id="rId24"/>
    <p:sldId id="1399" r:id="rId25"/>
    <p:sldId id="1575" r:id="rId26"/>
    <p:sldId id="1642" r:id="rId27"/>
    <p:sldId id="1405" r:id="rId28"/>
    <p:sldId id="1360" r:id="rId29"/>
    <p:sldId id="1502" r:id="rId30"/>
    <p:sldId id="1504" r:id="rId31"/>
    <p:sldId id="1403" r:id="rId32"/>
    <p:sldId id="1451" r:id="rId33"/>
    <p:sldId id="1599" r:id="rId34"/>
    <p:sldId id="1609" r:id="rId35"/>
    <p:sldId id="1494" r:id="rId36"/>
    <p:sldId id="1473" r:id="rId37"/>
    <p:sldId id="1639" r:id="rId38"/>
    <p:sldId id="442" r:id="rId39"/>
    <p:sldId id="562" r:id="rId40"/>
    <p:sldId id="400" r:id="rId41"/>
    <p:sldId id="408" r:id="rId42"/>
    <p:sldId id="1645" r:id="rId43"/>
    <p:sldId id="1446" r:id="rId44"/>
    <p:sldId id="423" r:id="rId45"/>
    <p:sldId id="1644" r:id="rId46"/>
    <p:sldId id="406" r:id="rId47"/>
    <p:sldId id="403" r:id="rId48"/>
    <p:sldId id="426" r:id="rId49"/>
    <p:sldId id="1448" r:id="rId50"/>
    <p:sldId id="1444" r:id="rId51"/>
    <p:sldId id="422" r:id="rId52"/>
    <p:sldId id="1646" r:id="rId53"/>
    <p:sldId id="1643" r:id="rId5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22"/>
    <p:restoredTop sz="90579" autoAdjust="0"/>
  </p:normalViewPr>
  <p:slideViewPr>
    <p:cSldViewPr>
      <p:cViewPr varScale="1">
        <p:scale>
          <a:sx n="96" d="100"/>
          <a:sy n="96" d="100"/>
        </p:scale>
        <p:origin x="200" y="3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31C474A-2EBA-0018-A7D0-F541051FA4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0DC58EB0-D38E-5695-A47D-65894E9A4DF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4BC064E4-61D1-328C-0A11-9D3909AC60A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EE729BDD-E141-B174-B398-6EB9B9DE66F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4245B15-31EA-8B60-8802-4760CE92F9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7BE5391A-2348-2815-29B4-BECB46578E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87FF323-F220-004A-9EBD-C6EE28FA16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007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10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1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56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24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468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415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507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2765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040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2765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73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247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300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6698F-39BC-A54D-6184-C2853B0C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A8296114-5225-F092-0EF6-FA4E47D4E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4D3A9ABB-B6CF-B1AB-94B1-1A9FC9ADA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9321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346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95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69A-829F-082A-85C5-D0DD8B80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F5908B99-CBDD-827F-8001-216A865CF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1FC0D490-156F-842B-6D56-D028CABA6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195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591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70658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9006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EBD42-5AC7-6BD5-B59D-CC8F7F61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42C23D22-1EFC-D621-30A5-AE5F2DB7A8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01B10DBD-5801-A6B2-7D84-590047075B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7949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993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690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4559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438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0547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1613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116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2427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136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9113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ln/>
        </p:spPr>
      </p:sp>
      <p:sp>
        <p:nvSpPr>
          <p:cNvPr id="1136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632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>
            <a:extLst>
              <a:ext uri="{FF2B5EF4-FFF2-40B4-BE49-F238E27FC236}">
                <a16:creationId xmlns:a16="http://schemas.microsoft.com/office/drawing/2014/main" id="{9BADABC4-746F-6033-B9A0-053315C7C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4" name="Notes Placeholder 2">
            <a:extLst>
              <a:ext uri="{FF2B5EF4-FFF2-40B4-BE49-F238E27FC236}">
                <a16:creationId xmlns:a16="http://schemas.microsoft.com/office/drawing/2014/main" id="{1C070CDE-085B-D03D-4D59-349B900A5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88BBC3D6-E03C-B54B-B211-A72FEF72F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4A1493C-DECA-9245-B96E-59FC00538F9B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5403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Whether the study database consists of one or many tables and whether it uses spreadsheet, statistical, or database management software, a mechanism for </a:t>
            </a:r>
            <a:r>
              <a:rPr lang="en-US" b="1"/>
              <a:t>populating the data tables </a:t>
            </a:r>
            <a:r>
              <a:rPr lang="en-US"/>
              <a:t>(entering the data) is required</a:t>
            </a:r>
          </a:p>
          <a:p>
            <a:endParaRPr lang="en-US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preferable to limit responses to a range of coded values rather than</a:t>
            </a:r>
          </a:p>
          <a:p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allowing free text responses</a:t>
            </a:r>
          </a:p>
          <a:p>
            <a:endParaRPr lang="en-US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coding yes/no (dichotomous) variables, make 0 represent </a:t>
            </a:r>
            <a:r>
              <a:rPr lang="en-US" sz="1200" b="0" i="1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sz="1200" b="0" i="1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absent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</a:t>
            </a:r>
          </a:p>
          <a:p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represent </a:t>
            </a:r>
            <a:r>
              <a:rPr lang="en-US" sz="1200" b="0" i="1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yes 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</a:t>
            </a:r>
            <a:r>
              <a:rPr lang="en-US" sz="1200" b="0" i="1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With this coding, the average value of the variable is interpretable as</a:t>
            </a:r>
          </a:p>
          <a:p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proportion with the attribute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5D93D-C467-424F-B99A-B16D27B3741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20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DD105687-01F7-65F9-B81A-BBA99019E3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530ACDC-3446-1046-B9B2-5F24C3E2BF54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832481BA-0B37-66C8-7203-5F8025AEC1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6B1D467-36C9-7370-D8C4-8F37A0CDF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>
            <a:extLst>
              <a:ext uri="{FF2B5EF4-FFF2-40B4-BE49-F238E27FC236}">
                <a16:creationId xmlns:a16="http://schemas.microsoft.com/office/drawing/2014/main" id="{9CB356BD-69DC-F185-6847-E841700243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7826" name="Notes Placeholder 2">
            <a:extLst>
              <a:ext uri="{FF2B5EF4-FFF2-40B4-BE49-F238E27FC236}">
                <a16:creationId xmlns:a16="http://schemas.microsoft.com/office/drawing/2014/main" id="{B9D82723-7C37-F133-901C-7301BBEEE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7827" name="Slide Number Placeholder 3">
            <a:extLst>
              <a:ext uri="{FF2B5EF4-FFF2-40B4-BE49-F238E27FC236}">
                <a16:creationId xmlns:a16="http://schemas.microsoft.com/office/drawing/2014/main" id="{4C558FFD-9EB0-357B-B9FD-83D1A639D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5F1667-27A3-9C42-A293-0D4E961955E8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27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E0F68A-7950-904A-9927-E969B2363FC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45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8980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796F1F-455F-1E4C-8CA1-96303796BDF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37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9BABF7-CD21-954C-A37B-5A94AB40310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449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7D870E-9AA0-D849-9CBC-3E21CCCFB7B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338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794F0F-7AC8-0E43-8363-D0697FC0CAA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765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66C49E-7E77-5248-B0AF-ECED2901974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12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A34DB-E9E0-AB4C-BA8A-3D6CB1DEB9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651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8E5C23-4DA2-9547-AFFE-6D4E613C98D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612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6FD36893-24E5-E344-982E-777304B12C7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427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1" r:id="rId1"/>
    <p:sldLayoutId id="2147484212" r:id="rId2"/>
    <p:sldLayoutId id="2147484213" r:id="rId3"/>
    <p:sldLayoutId id="2147484214" r:id="rId4"/>
    <p:sldLayoutId id="2147484215" r:id="rId5"/>
    <p:sldLayoutId id="2147484216" r:id="rId6"/>
    <p:sldLayoutId id="2147484217" r:id="rId7"/>
    <p:sldLayoutId id="2147484218" r:id="rId8"/>
    <p:sldLayoutId id="2147484219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cebm.shinyapps.io/Power/" TargetMode="Externa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844D-04A4-D72B-E70A-7B5BF0B6A4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Designing clinical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55AD6-A794-1289-8EA4-82CC788A28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Ashraf Fawzy Nabhan</a:t>
            </a:r>
          </a:p>
        </p:txBody>
      </p:sp>
    </p:spTree>
    <p:extLst>
      <p:ext uri="{BB962C8B-B14F-4D97-AF65-F5344CB8AC3E}">
        <p14:creationId xmlns:p14="http://schemas.microsoft.com/office/powerpoint/2010/main" val="232726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70F6486B-5566-CA8D-55D5-B9A0BA7E1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Clinical Research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CE6B9BD9-3CBB-7B8A-EC74-D9AEE1D6EB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Start with a well formulated question</a:t>
            </a:r>
          </a:p>
          <a:p>
            <a:r>
              <a:rPr lang="en-US" altLang="en-US" dirty="0"/>
              <a:t>Choose the study design (that best answers your question) </a:t>
            </a:r>
          </a:p>
          <a:p>
            <a:r>
              <a:rPr lang="en-US" altLang="en-US" dirty="0"/>
              <a:t>Define the population and variables</a:t>
            </a:r>
          </a:p>
          <a:p>
            <a:r>
              <a:rPr lang="en-US" altLang="en-US" dirty="0"/>
              <a:t>Measure these variables</a:t>
            </a:r>
          </a:p>
          <a:p>
            <a:r>
              <a:rPr lang="en-US" altLang="en-US" dirty="0"/>
              <a:t>Analyze the results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D0F0D-55F3-2A19-D88A-3D27D7301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A9ED2-36CE-02DA-8EE1-C9C6E546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DC079-EF8C-42B3-235A-DF49ADDA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5566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8AA4-CF23-D6D6-2847-DB315945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A0EF2-4B16-079B-834E-D63FF6B43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Protocol</a:t>
            </a:r>
          </a:p>
          <a:p>
            <a:r>
              <a:rPr lang="en-US" dirty="0"/>
              <a:t>Curriculum Vitae and Licenses</a:t>
            </a:r>
          </a:p>
          <a:p>
            <a:r>
              <a:rPr lang="en-US" dirty="0"/>
              <a:t>Data collection Form</a:t>
            </a:r>
          </a:p>
          <a:p>
            <a:r>
              <a:rPr lang="en-US" dirty="0"/>
              <a:t>Informed Consent Form</a:t>
            </a:r>
          </a:p>
          <a:p>
            <a:r>
              <a:rPr lang="en-US" dirty="0"/>
              <a:t>IRB Approval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CF487-40EE-D14B-9292-B2A4FEFE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583C4-E8AF-89BF-4EFC-448F679E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A2D3-3CF3-F58E-B895-AE8D4386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6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42601-69E6-CC7E-600D-3B03F3F12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456F2-35EF-B93F-7F6E-A0B55023B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Background and rationale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Design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Participants: Selection criteria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Variables: Predictor,  Confounding, Outcome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Statistical issues: Hypotheses, Sample size, Analytic approach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CF25C-0510-2F43-9418-5C704B29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9127C-ECD6-70CD-BC16-A3656A6C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690C-04DE-260F-4EB7-0E60EE6C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434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398E0-C9EE-87A0-68BA-91B293A9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Today, we shall learn how to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15A5-3581-A546-F2C8-8ECF82A34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dirty="0"/>
              <a:t>Calculate</a:t>
            </a:r>
            <a:r>
              <a:rPr lang="en-US" altLang="en-US" dirty="0"/>
              <a:t> the size of the study</a:t>
            </a:r>
          </a:p>
          <a:p>
            <a:r>
              <a:rPr lang="en-US" altLang="en-US" b="1" i="1" dirty="0"/>
              <a:t>Prepare</a:t>
            </a:r>
            <a:r>
              <a:rPr lang="en-US" altLang="en-US" dirty="0"/>
              <a:t> a data collection form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3B4D4-1F08-7423-8349-BF6CA8F91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C256E-037F-D4B7-04D6-4A3A0C2F8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EB2F7-A247-8946-DFA9-AEF21A38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5604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Sample Size and Power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4FEEA9-6F9A-046F-F487-FF8BDBF7D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92262-3FB7-5C93-BCCE-10A83A288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DC1EB-A7FD-52A0-F64C-85A7E6A4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A59E0-7EDB-685F-783A-DB491E1F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796F1F-455F-1E4C-8CA1-96303796BDF5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239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E837AE-D9D6-9AC3-9909-F24AC7EE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key to healthy urinary tract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1031C8-DD4A-08A5-1FDE-6DF3D8264D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Cranberry has a high content of vit C, fiber, antioxidants</a:t>
            </a:r>
          </a:p>
          <a:p>
            <a:r>
              <a:rPr lang="en-US" dirty="0"/>
              <a:t>Cranberry may prevent UTIs</a:t>
            </a:r>
          </a:p>
          <a:p>
            <a:r>
              <a:rPr lang="en-US" dirty="0"/>
              <a:t>Cranberry</a:t>
            </a:r>
          </a:p>
          <a:p>
            <a:pPr lvl="1"/>
            <a:r>
              <a:rPr lang="en-US" dirty="0"/>
              <a:t>Sauce</a:t>
            </a:r>
          </a:p>
          <a:p>
            <a:pPr lvl="1"/>
            <a:r>
              <a:rPr lang="en-US" dirty="0"/>
              <a:t>Juice</a:t>
            </a:r>
          </a:p>
          <a:p>
            <a:pPr lvl="1"/>
            <a:r>
              <a:rPr lang="en-US" dirty="0"/>
              <a:t>Capsules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8507B9-6613-E515-73AC-1B16A3B4113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394" b="23090"/>
          <a:stretch>
            <a:fillRect/>
          </a:stretch>
        </p:blipFill>
        <p:spPr bwMode="auto">
          <a:xfrm>
            <a:off x="6410324" y="1825625"/>
            <a:ext cx="5346981" cy="343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662D7-50F6-EADF-8C58-F3BD2C3B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A51AE-48E2-F2E2-4A5E-AEFA4DBD5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92B57-3AA0-E57F-F287-5E676A14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9BABF7-CD21-954C-A37B-5A94AB403104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8499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 want to show</a:t>
            </a:r>
          </a:p>
        </p:txBody>
      </p:sp>
      <p:sp>
        <p:nvSpPr>
          <p:cNvPr id="1713155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Consuming cranberry promotes healthy urinary tract</a:t>
            </a:r>
          </a:p>
          <a:p>
            <a:r>
              <a:rPr lang="en-US" dirty="0"/>
              <a:t>How many participants do I need to answer the question?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AB99FE-0D2F-EA1C-1E83-F709ABC6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F015B-D47B-960A-4539-599B9FFE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BB88D-3033-9971-395A-173D76D9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99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Ingredients for Estimating Sample Size</a:t>
            </a:r>
          </a:p>
        </p:txBody>
      </p:sp>
      <p:sp>
        <p:nvSpPr>
          <p:cNvPr id="16640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Testable hypothesis</a:t>
            </a:r>
          </a:p>
          <a:p>
            <a:r>
              <a:rPr lang="en-US" dirty="0"/>
              <a:t>Study design</a:t>
            </a:r>
          </a:p>
          <a:p>
            <a:r>
              <a:rPr lang="en-US" dirty="0"/>
              <a:t>Effect size </a:t>
            </a:r>
          </a:p>
          <a:p>
            <a:r>
              <a:rPr lang="en-US" dirty="0"/>
              <a:t>Power and alpha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8118A-4329-DECE-9B24-BF72C0C5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1F8A37-1ADB-704A-C231-797762E9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2F953-B27A-2FA1-DCCD-3DB0B6D1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67435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Sample Size Ingredients</a:t>
            </a:r>
          </a:p>
        </p:txBody>
      </p:sp>
      <p:sp>
        <p:nvSpPr>
          <p:cNvPr id="18063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187451" y="1651000"/>
            <a:ext cx="9791699" cy="4749800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Helvetica" charset="0"/>
                <a:ea typeface="ＭＳ Ｐゴシック" charset="0"/>
                <a:cs typeface="ＭＳ Ｐゴシック" charset="0"/>
              </a:rPr>
              <a:t>Testable hypothesis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  <a:cs typeface="ＭＳ Ｐゴシック" charset="0"/>
              </a:rPr>
              <a:t>Study design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  <a:cs typeface="ＭＳ Ｐゴシック" charset="0"/>
              </a:rPr>
              <a:t>Effect size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  <a:cs typeface="ＭＳ Ｐゴシック" charset="0"/>
              </a:rPr>
              <a:t>Power and alpha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6D59E-0A65-8215-0C32-C2DAEC624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46520-F961-953F-B359-DA5DEA980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6543D-F241-3ED5-68E2-D4A17208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460567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My research question</a:t>
            </a:r>
          </a:p>
        </p:txBody>
      </p:sp>
      <p:sp>
        <p:nvSpPr>
          <p:cNvPr id="17244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Is consuming cranberry correlated with a healthy urinary tract?</a:t>
            </a:r>
          </a:p>
          <a:p>
            <a:r>
              <a:rPr lang="en-US" dirty="0"/>
              <a:t>What is wrong?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B0371-F6E1-B6D1-6933-AD912D94F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86FEDB-7EA4-2850-0188-5CA1E5B1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4C341-548D-12C3-9F44-9AF55F4D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421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What’s wrong?</a:t>
            </a:r>
          </a:p>
        </p:txBody>
      </p:sp>
      <p:sp>
        <p:nvSpPr>
          <p:cNvPr id="17244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Vague</a:t>
            </a:r>
          </a:p>
          <a:p>
            <a:r>
              <a:rPr lang="en-US" dirty="0"/>
              <a:t>Not testable</a:t>
            </a:r>
          </a:p>
          <a:p>
            <a:r>
              <a:rPr lang="en-US" dirty="0"/>
              <a:t>Not measurable </a:t>
            </a:r>
          </a:p>
          <a:p>
            <a:r>
              <a:rPr lang="en-US" dirty="0"/>
              <a:t>This is not the correct use of the term “correlation”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CD7CFE-031D-2762-7E2E-B78600B08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030545-1957-32CD-4E58-18148E94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9EE73-2174-692F-ADA6-06417716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299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ja-JP" altLang="en-US"/>
              <a:t>“</a:t>
            </a:r>
            <a:r>
              <a:rPr lang="en-US" altLang="ja-JP" dirty="0"/>
              <a:t>Consuming cranberry</a:t>
            </a:r>
            <a:r>
              <a:rPr lang="ja-JP" altLang="en-US"/>
              <a:t>”</a:t>
            </a:r>
            <a:endParaRPr lang="en-US" dirty="0"/>
          </a:p>
        </p:txBody>
      </p:sp>
      <p:sp>
        <p:nvSpPr>
          <p:cNvPr id="1728516" name="Rectangle 1028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Needs to be quantifiable</a:t>
            </a:r>
          </a:p>
          <a:p>
            <a:r>
              <a:rPr lang="en-US" dirty="0"/>
              <a:t>I could measure cranberry intake in a sample, then follow-up for an outcome ……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90B49-C103-988B-C95C-455E0224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A8B830-6CD1-2054-F90A-A87B2355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7F79D-C20C-4435-308B-4AEB96BD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4358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ja-JP" dirty="0"/>
              <a:t>An alternative to </a:t>
            </a:r>
            <a:r>
              <a:rPr lang="ja-JP" altLang="en-US"/>
              <a:t>“</a:t>
            </a:r>
            <a:r>
              <a:rPr lang="en-US" altLang="ja-JP" dirty="0"/>
              <a:t>Consuming cranberry</a:t>
            </a:r>
            <a:r>
              <a:rPr lang="ja-JP" altLang="en-US"/>
              <a:t>”</a:t>
            </a:r>
            <a:endParaRPr lang="en-US" dirty="0"/>
          </a:p>
        </p:txBody>
      </p:sp>
      <p:sp>
        <p:nvSpPr>
          <p:cNvPr id="1728516" name="Rectangle 1028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known quantity of cranberry</a:t>
            </a:r>
          </a:p>
          <a:p>
            <a:r>
              <a:rPr lang="en-US" dirty="0"/>
              <a:t>Juice or sauce intake would be difficult</a:t>
            </a:r>
          </a:p>
          <a:p>
            <a:r>
              <a:rPr lang="en-US" dirty="0"/>
              <a:t>Therefore, a specific, measured, predictor</a:t>
            </a:r>
          </a:p>
          <a:p>
            <a:pPr lvl="1"/>
            <a:r>
              <a:rPr lang="en-US" dirty="0"/>
              <a:t>cranberry supplemental capsules with a specific dose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6ADB9B-0ADF-30F6-09BB-AA692A6D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6D831-5710-C63B-AC25-807312FD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B5E25-997F-1080-FF9F-F8BD5910D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8082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I need a measurable endpoint</a:t>
            </a:r>
          </a:p>
        </p:txBody>
      </p:sp>
      <p:sp>
        <p:nvSpPr>
          <p:cNvPr id="172646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ja-JP" altLang="en-US"/>
              <a:t>“</a:t>
            </a:r>
            <a:r>
              <a:rPr lang="en-US" dirty="0"/>
              <a:t>improves urinary tract health</a:t>
            </a:r>
            <a:r>
              <a:rPr lang="ja-JP" altLang="en-US"/>
              <a:t>”</a:t>
            </a:r>
            <a:endParaRPr lang="en-US" altLang="ja-JP" dirty="0"/>
          </a:p>
          <a:p>
            <a:pPr lvl="1"/>
            <a:r>
              <a:rPr lang="en-US" altLang="ja-JP" dirty="0"/>
              <a:t>Not measurable</a:t>
            </a:r>
          </a:p>
          <a:p>
            <a:r>
              <a:rPr lang="en-US" dirty="0"/>
              <a:t>A measurable endpoint: UTI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B448FB-3A0B-5C5E-26A0-18D79901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761CEC-3D3B-A13F-396B-B8004F9C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2438D-617A-EE13-21A2-C8570C04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1258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question is getting better</a:t>
            </a:r>
          </a:p>
        </p:txBody>
      </p:sp>
      <p:sp>
        <p:nvSpPr>
          <p:cNvPr id="1994755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Do “people” who get a cranberry supplement have a lower UTI than those who do not get the supplement?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A821B-92EA-B7B9-F51B-8D3F1BA9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C1E78-C974-C103-CCDF-99E13EEC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6F25A-5A90-9846-887D-634942E7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369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But we must Specify the population</a:t>
            </a:r>
          </a:p>
        </p:txBody>
      </p:sp>
      <p:sp>
        <p:nvSpPr>
          <p:cNvPr id="1994755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Women during pregnancy</a:t>
            </a:r>
          </a:p>
          <a:p>
            <a:pPr lvl="1"/>
            <a:r>
              <a:rPr lang="en-US" dirty="0"/>
              <a:t>Because women have a relatively higher risk of UTI</a:t>
            </a:r>
          </a:p>
          <a:p>
            <a:pPr lvl="1"/>
            <a:r>
              <a:rPr lang="en-US" dirty="0"/>
              <a:t>Because pregnancy increases the risk of UTI: </a:t>
            </a:r>
          </a:p>
          <a:p>
            <a:pPr lvl="2"/>
            <a:r>
              <a:rPr lang="en-US" dirty="0"/>
              <a:t>Enough UTI within a feasible period of study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9110AA-1F44-6F37-129C-9FC7A08BE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DCD1C-5B3C-D1CF-1BFD-827A07478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A13D-5906-6CBD-1B40-EAFF6CF6C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677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research hypothesis</a:t>
            </a:r>
          </a:p>
        </p:txBody>
      </p:sp>
      <p:sp>
        <p:nvSpPr>
          <p:cNvPr id="173465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Women during pregnancy who get a cranberry supplement have a lower UTI than those who do not get the supplement.</a:t>
            </a:r>
          </a:p>
          <a:p>
            <a:pPr lvl="1"/>
            <a:r>
              <a:rPr lang="en-US" dirty="0"/>
              <a:t>This is the</a:t>
            </a:r>
            <a:r>
              <a:rPr lang="ja-JP" altLang="en-US"/>
              <a:t>‘</a:t>
            </a:r>
            <a:r>
              <a:rPr lang="en-US" altLang="ja-JP" dirty="0"/>
              <a:t>alternative</a:t>
            </a:r>
            <a:r>
              <a:rPr lang="ja-JP" altLang="en-US"/>
              <a:t>’</a:t>
            </a:r>
            <a:r>
              <a:rPr lang="en-US" altLang="ja-JP" dirty="0"/>
              <a:t> hypothesis</a:t>
            </a:r>
            <a:endParaRPr lang="en-US" dirty="0"/>
          </a:p>
          <a:p>
            <a:pPr lvl="1"/>
            <a:r>
              <a:rPr lang="en-US" dirty="0"/>
              <a:t>It cannot be tested statistically</a:t>
            </a:r>
          </a:p>
          <a:p>
            <a:r>
              <a:rPr lang="en-US" dirty="0"/>
              <a:t>Statistical tests only reject null hypothesis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F7E7EE-01EA-1584-426A-7BD7E9EF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5E68D-F225-E340-5AB3-5CF137DA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26457-B67C-74BC-2FE9-2883A5D7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593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Null Hypothesis</a:t>
            </a:r>
          </a:p>
        </p:txBody>
      </p:sp>
      <p:sp>
        <p:nvSpPr>
          <p:cNvPr id="173568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Women during pregnancy who get a cranberry supplement do NOT have a lower UTI than those who do not get the supplement.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DB2C51-6E69-88B1-DA63-514935F8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59DF5-DEF2-9BDF-D848-E80D349F0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165B2-CCB9-4403-A592-FC5BBA7D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3441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C0DB-B060-76AC-FF87-2EDDA5A20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>
            <a:extLst>
              <a:ext uri="{FF2B5EF4-FFF2-40B4-BE49-F238E27FC236}">
                <a16:creationId xmlns:a16="http://schemas.microsoft.com/office/drawing/2014/main" id="{E134D069-F6A1-8138-69AD-26D4AECE9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Sample Size Ingredients</a:t>
            </a:r>
          </a:p>
        </p:txBody>
      </p:sp>
      <p:sp>
        <p:nvSpPr>
          <p:cNvPr id="1806339" name="Rectangle 1027">
            <a:extLst>
              <a:ext uri="{FF2B5EF4-FFF2-40B4-BE49-F238E27FC236}">
                <a16:creationId xmlns:a16="http://schemas.microsoft.com/office/drawing/2014/main" id="{A3E6A1D6-C8B1-BE95-0813-BA92D9975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1" y="1651000"/>
            <a:ext cx="9791699" cy="47498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</a:rPr>
              <a:t>Testable hypothesis</a:t>
            </a:r>
          </a:p>
          <a:p>
            <a:pPr>
              <a:defRPr/>
            </a:pPr>
            <a:r>
              <a:rPr lang="en-US" b="1" dirty="0">
                <a:latin typeface="Helvetica" charset="0"/>
                <a:ea typeface="ＭＳ Ｐゴシック" charset="0"/>
              </a:rPr>
              <a:t>Study design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  <a:cs typeface="ＭＳ Ｐゴシック" charset="0"/>
              </a:rPr>
              <a:t>Effect size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  <a:cs typeface="ＭＳ Ｐゴシック" charset="0"/>
              </a:rPr>
              <a:t>Power and alpha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C0D2E-F1AE-4881-2DF6-2871A7EA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8DC91-4484-7154-B402-7782E7135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8699-4E7A-D74A-D637-C1AD912A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644407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Descriptive studies</a:t>
            </a:r>
          </a:p>
        </p:txBody>
      </p:sp>
      <p:sp>
        <p:nvSpPr>
          <p:cNvPr id="173773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Sample size is based on the desired width of the confidence interval</a:t>
            </a:r>
          </a:p>
          <a:p>
            <a:r>
              <a:rPr lang="en-US" dirty="0"/>
              <a:t>What is the proportion of women who suffer UTI during pregnancy?</a:t>
            </a:r>
          </a:p>
          <a:p>
            <a:pPr lvl="1"/>
            <a:r>
              <a:rPr lang="en-US" dirty="0"/>
              <a:t>Confidence interval for the proportion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8D58A-BAAB-1FE4-CCCA-916C90A8C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44438-68B5-E928-36DA-11DE792B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C8E93-4F76-9BFA-B9AA-0BB66DDE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032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Analytical studies</a:t>
            </a:r>
          </a:p>
        </p:txBody>
      </p:sp>
      <p:sp>
        <p:nvSpPr>
          <p:cNvPr id="17397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supplement vs no supplement</a:t>
            </a:r>
          </a:p>
          <a:p>
            <a:pPr lvl="1"/>
            <a:r>
              <a:rPr lang="en-US" dirty="0"/>
              <a:t>Null hypothesis:  	p1 = p2 		or		P1 – p2 = 0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476B9-8AE2-F65A-2F09-C0E7042F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68261-55BF-246C-842E-3DF8A6C2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E1660-5299-8044-4D51-987ED74A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7240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0F00-6F0B-6141-6D91-B603F1C5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>
            <a:extLst>
              <a:ext uri="{FF2B5EF4-FFF2-40B4-BE49-F238E27FC236}">
                <a16:creationId xmlns:a16="http://schemas.microsoft.com/office/drawing/2014/main" id="{F67EFF99-1921-9EFB-8C22-56C5C95E4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Sample Size Ingredients</a:t>
            </a:r>
          </a:p>
        </p:txBody>
      </p:sp>
      <p:sp>
        <p:nvSpPr>
          <p:cNvPr id="1806339" name="Rectangle 1027">
            <a:extLst>
              <a:ext uri="{FF2B5EF4-FFF2-40B4-BE49-F238E27FC236}">
                <a16:creationId xmlns:a16="http://schemas.microsoft.com/office/drawing/2014/main" id="{1E16C1F5-BD65-308C-29AB-8D975D4EC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1" y="1651000"/>
            <a:ext cx="9791699" cy="47498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</a:rPr>
              <a:t>Testable hypothesis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</a:rPr>
              <a:t>Study design</a:t>
            </a:r>
          </a:p>
          <a:p>
            <a:pPr>
              <a:defRPr/>
            </a:pPr>
            <a:r>
              <a:rPr lang="en-US" b="1" dirty="0">
                <a:latin typeface="Helvetica" charset="0"/>
                <a:ea typeface="ＭＳ Ｐゴシック" charset="0"/>
                <a:cs typeface="ＭＳ Ｐゴシック" charset="0"/>
              </a:rPr>
              <a:t>Effect size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  <a:cs typeface="ＭＳ Ｐゴシック" charset="0"/>
              </a:rPr>
              <a:t>Power and alpha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47033-A9F3-6178-1E77-40D82E10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53677B-A308-B9E2-45A7-468D9756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2DC30-951C-B2D4-9459-1BA1CA83B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22711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Estimating the effect size</a:t>
            </a:r>
          </a:p>
        </p:txBody>
      </p:sp>
      <p:sp>
        <p:nvSpPr>
          <p:cNvPr id="171520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Start with the baseline risk (proportion in the unexposed, those who do not take supplement)</a:t>
            </a:r>
          </a:p>
          <a:p>
            <a:r>
              <a:rPr lang="en-US" dirty="0"/>
              <a:t>Usually available from prevalence studies</a:t>
            </a:r>
          </a:p>
          <a:p>
            <a:r>
              <a:rPr lang="en-US" dirty="0"/>
              <a:t>The proportion of women who develop symptomatic UTI during pregnancy is 10%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AF3DC7-B795-84A4-A601-83022E57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1C713A-DC6E-C353-646B-461F271DF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AA1AA-1190-951E-1705-FEC584CB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540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effect of cranberry on risk of UTI</a:t>
            </a:r>
          </a:p>
        </p:txBody>
      </p:sp>
      <p:sp>
        <p:nvSpPr>
          <p:cNvPr id="2004995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What should I assume for the effect of cranberry in preventing UTI?</a:t>
            </a:r>
          </a:p>
          <a:p>
            <a:r>
              <a:rPr lang="en-US" dirty="0"/>
              <a:t>Ways to choose an effect size:</a:t>
            </a:r>
          </a:p>
          <a:p>
            <a:pPr lvl="1"/>
            <a:r>
              <a:rPr lang="en-US" dirty="0"/>
              <a:t>What is likely, based on other data?</a:t>
            </a:r>
          </a:p>
          <a:p>
            <a:pPr lvl="1"/>
            <a:r>
              <a:rPr lang="en-US" dirty="0"/>
              <a:t>Do a pilot study</a:t>
            </a:r>
          </a:p>
          <a:p>
            <a:pPr lvl="1"/>
            <a:r>
              <a:rPr lang="en-US" dirty="0"/>
              <a:t>What difference is important to detect?</a:t>
            </a:r>
          </a:p>
          <a:p>
            <a:pPr lvl="2"/>
            <a:r>
              <a:rPr lang="en-US" dirty="0"/>
              <a:t>I don’t want to miss a 2% decrease</a:t>
            </a:r>
          </a:p>
          <a:p>
            <a:pPr lvl="1"/>
            <a:r>
              <a:rPr lang="en-US" dirty="0"/>
              <a:t>What can we afford?</a:t>
            </a:r>
          </a:p>
          <a:p>
            <a:pPr lvl="2"/>
            <a:r>
              <a:rPr lang="en-US" dirty="0"/>
              <a:t>2%: the trial will be too big &amp; expensive</a:t>
            </a:r>
          </a:p>
          <a:p>
            <a:pPr lvl="2"/>
            <a:r>
              <a:rPr lang="en-US" dirty="0"/>
              <a:t>5%: the trial will be smaller and cheaper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F64CC-FC96-4A68-319B-4C02BFFF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57207E-9839-F5A5-64EB-C3FCD018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BCD96-6ECC-A961-0669-9B1CF7C1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326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BBE96-D2D6-A097-18C8-2A274671E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026">
            <a:extLst>
              <a:ext uri="{FF2B5EF4-FFF2-40B4-BE49-F238E27FC236}">
                <a16:creationId xmlns:a16="http://schemas.microsoft.com/office/drawing/2014/main" id="{B8CEE33B-1CF3-F67E-D731-AAA176B1A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 Sample Size Ingredients</a:t>
            </a:r>
          </a:p>
        </p:txBody>
      </p:sp>
      <p:sp>
        <p:nvSpPr>
          <p:cNvPr id="1806339" name="Rectangle 1027">
            <a:extLst>
              <a:ext uri="{FF2B5EF4-FFF2-40B4-BE49-F238E27FC236}">
                <a16:creationId xmlns:a16="http://schemas.microsoft.com/office/drawing/2014/main" id="{8C7510A0-4767-856F-55F6-D629A0FAB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451" y="1651000"/>
            <a:ext cx="9791699" cy="47498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</a:rPr>
              <a:t>Testable hypothesis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</a:rPr>
              <a:t>Study design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charset="0"/>
                <a:ea typeface="ＭＳ Ｐゴシック" charset="0"/>
              </a:rPr>
              <a:t>Effect size </a:t>
            </a:r>
          </a:p>
          <a:p>
            <a:pPr>
              <a:defRPr/>
            </a:pPr>
            <a:r>
              <a:rPr lang="en-US" b="1" dirty="0">
                <a:latin typeface="Helvetica" charset="0"/>
                <a:ea typeface="ＭＳ Ｐゴシック" charset="0"/>
                <a:cs typeface="ＭＳ Ｐゴシック" charset="0"/>
              </a:rPr>
              <a:t>Power and alpha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F5A56-3641-F59B-AB58-60B828BD9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D8A859-D254-AA5B-5160-1B4642F94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33CD6-BABF-DA8B-91C2-CB763716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74359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𝝰 (alfa): false positive (Type I error)</a:t>
            </a:r>
          </a:p>
        </p:txBody>
      </p:sp>
      <p:sp>
        <p:nvSpPr>
          <p:cNvPr id="172134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Dogma: 𝝰 (alpha) = 0.05</a:t>
            </a:r>
          </a:p>
          <a:p>
            <a:r>
              <a:rPr lang="en-US" dirty="0"/>
              <a:t>If I need to convince skeptics, I shall reduce the chance of a false positive</a:t>
            </a:r>
          </a:p>
          <a:p>
            <a:pPr lvl="1"/>
            <a:r>
              <a:rPr lang="en-US" dirty="0"/>
              <a:t>Very small chance that a positive result is an error</a:t>
            </a:r>
          </a:p>
          <a:p>
            <a:pPr lvl="1"/>
            <a:r>
              <a:rPr lang="en-US" dirty="0"/>
              <a:t>𝝰 (alpha) = 0.01 </a:t>
            </a:r>
          </a:p>
          <a:p>
            <a:pPr lvl="1"/>
            <a:r>
              <a:rPr lang="en-US" dirty="0"/>
              <a:t>A smaller 𝝰 </a:t>
            </a:r>
            <a:r>
              <a:rPr lang="en-US" dirty="0">
                <a:sym typeface="Symbol" charset="0"/>
              </a:rPr>
              <a:t></a:t>
            </a:r>
            <a:r>
              <a:rPr lang="en-US" dirty="0"/>
              <a:t>means larger sample size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72337B-6858-F537-E60D-8BCA4D1A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0483F-9DB9-12C9-EF37-24CFC2B47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F3FB4-2677-77FE-6BD3-AAFA97D7C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5360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1" y="453898"/>
            <a:ext cx="9791700" cy="1143000"/>
          </a:xfrm>
        </p:spPr>
        <p:txBody>
          <a:bodyPr/>
          <a:lstStyle/>
          <a:p>
            <a:r>
              <a:rPr lang="en-US" dirty="0"/>
              <a:t>Two-sided vs. one-sided 𝝰</a:t>
            </a:r>
          </a:p>
        </p:txBody>
      </p:sp>
      <p:sp>
        <p:nvSpPr>
          <p:cNvPr id="1674243" name="Rectangle 3"/>
          <p:cNvSpPr>
            <a:spLocks noGrp="1" noChangeArrowheads="1"/>
          </p:cNvSpPr>
          <p:nvPr>
            <p:ph idx="1"/>
          </p:nvPr>
        </p:nvSpPr>
        <p:spPr>
          <a:xfrm>
            <a:off x="1123951" y="1866900"/>
            <a:ext cx="9842500" cy="4292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two-sided 𝝰 assumes that the result could go either way</a:t>
            </a:r>
          </a:p>
          <a:p>
            <a:pPr lvl="1"/>
            <a:r>
              <a:rPr lang="en-US" dirty="0"/>
              <a:t>Cranberry decreases UTI</a:t>
            </a:r>
          </a:p>
          <a:p>
            <a:pPr lvl="1"/>
            <a:r>
              <a:rPr lang="en-US" dirty="0"/>
              <a:t>Cranberry increases UTI</a:t>
            </a:r>
          </a:p>
          <a:p>
            <a:r>
              <a:rPr lang="en-US" dirty="0"/>
              <a:t>A one-sided hypothesis assumes that the result could, plausibly, go only one way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867CF-4BEB-E63F-F3C1-2717A798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2358B8-3D5B-D4C8-A8D8-0C66557A2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4E3CA-D7E5-1862-E191-1B87E806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719649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One-sided 𝝰 </a:t>
            </a:r>
          </a:p>
        </p:txBody>
      </p:sp>
      <p:sp>
        <p:nvSpPr>
          <p:cNvPr id="19671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 may believe that your effect could only go one way!</a:t>
            </a:r>
          </a:p>
          <a:p>
            <a:pPr lvl="1"/>
            <a:r>
              <a:rPr lang="en-US" dirty="0"/>
              <a:t>Cranberry is</a:t>
            </a:r>
            <a:r>
              <a:rPr lang="ja-JP" altLang="en-US"/>
              <a:t>‘</a:t>
            </a:r>
            <a:r>
              <a:rPr lang="en-US" dirty="0"/>
              <a:t>natural.</a:t>
            </a:r>
            <a:r>
              <a:rPr lang="ja-JP" altLang="en-US"/>
              <a:t>’</a:t>
            </a:r>
            <a:r>
              <a:rPr lang="en-US" dirty="0"/>
              <a:t> It could not increase UTI!</a:t>
            </a:r>
          </a:p>
          <a:p>
            <a:r>
              <a:rPr lang="en-US" dirty="0"/>
              <a:t>Be humble</a:t>
            </a:r>
          </a:p>
          <a:p>
            <a:pPr lvl="1"/>
            <a:r>
              <a:rPr lang="en-US" dirty="0"/>
              <a:t>The history of research is filled with results that contradicted expectations</a:t>
            </a:r>
          </a:p>
          <a:p>
            <a:pPr lvl="1"/>
            <a:r>
              <a:rPr lang="en-US" dirty="0"/>
              <a:t>Remember fluoride and osteoporosis</a:t>
            </a:r>
          </a:p>
          <a:p>
            <a:pPr lvl="1"/>
            <a:r>
              <a:rPr lang="en-US" dirty="0"/>
              <a:t>A one-sided test is almost never the best choice</a:t>
            </a:r>
          </a:p>
          <a:p>
            <a:pPr lvl="1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080116-8DB6-3D80-0CA8-9FA88D9D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808AB6-9F20-A1DE-E53C-6D7F928B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13382-8133-D505-E267-C8DA63C1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9350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ß</a:t>
            </a:r>
            <a:r>
              <a:rPr lang="en-US" dirty="0"/>
              <a:t> (beta): false negative (Type II error)</a:t>
            </a:r>
          </a:p>
        </p:txBody>
      </p:sp>
      <p:sp>
        <p:nvSpPr>
          <p:cNvPr id="19701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Dogma </a:t>
            </a:r>
            <a:r>
              <a:rPr lang="en-US" dirty="0" err="1"/>
              <a:t>ß</a:t>
            </a:r>
            <a:r>
              <a:rPr lang="en-US" dirty="0"/>
              <a:t> (beta) = 0.2</a:t>
            </a:r>
          </a:p>
          <a:p>
            <a:pPr lvl="1"/>
            <a:r>
              <a:rPr lang="en-US" dirty="0"/>
              <a:t>The probability of missing the effect (</a:t>
            </a:r>
            <a:r>
              <a:rPr lang="en-US" dirty="0" err="1"/>
              <a:t>ß</a:t>
            </a:r>
            <a:r>
              <a:rPr lang="en-US" dirty="0"/>
              <a:t>)</a:t>
            </a:r>
          </a:p>
          <a:p>
            <a:r>
              <a:rPr lang="en-US" dirty="0"/>
              <a:t>Power (1-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/>
              <a:t>ß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The </a:t>
            </a:r>
            <a:r>
              <a:rPr lang="en-US" b="1" dirty="0"/>
              <a:t>probability</a:t>
            </a:r>
            <a:r>
              <a:rPr lang="en-US" dirty="0"/>
              <a:t> of rejecting the null hypothesis when a specific alternative hypothesis is true.</a:t>
            </a:r>
          </a:p>
          <a:p>
            <a:pPr lvl="1"/>
            <a:r>
              <a:rPr lang="en-US" dirty="0"/>
              <a:t>Power = 1- </a:t>
            </a:r>
            <a:r>
              <a:rPr lang="en-US" dirty="0" err="1"/>
              <a:t>ß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= </a:t>
            </a:r>
            <a:r>
              <a:rPr lang="en-US" dirty="0"/>
              <a:t>0.80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34303-0C8C-CDAD-7B2D-39DFC800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274DB-BDA0-454F-A12B-355E0FF3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FF604-CA1C-8883-2AF5-A566C969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5830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I really don</a:t>
            </a:r>
            <a:r>
              <a:rPr lang="ja-JP" altLang="en-US"/>
              <a:t>’</a:t>
            </a:r>
            <a:r>
              <a:rPr lang="en-US" altLang="ja-JP"/>
              <a:t>t want to miss it</a:t>
            </a:r>
            <a:endParaRPr lang="en-US"/>
          </a:p>
        </p:txBody>
      </p:sp>
      <p:sp>
        <p:nvSpPr>
          <p:cNvPr id="171929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err="1"/>
              <a:t>ß</a:t>
            </a:r>
            <a:r>
              <a:rPr lang="en-US"/>
              <a:t> = .10</a:t>
            </a:r>
          </a:p>
          <a:p>
            <a:r>
              <a:rPr lang="en-US"/>
              <a:t>Power (1- </a:t>
            </a:r>
            <a:r>
              <a:rPr lang="en-US" err="1"/>
              <a:t>ß</a:t>
            </a:r>
            <a:r>
              <a:rPr lang="en-US"/>
              <a:t>) = 0.90</a:t>
            </a:r>
          </a:p>
          <a:p>
            <a:r>
              <a:rPr lang="en-US"/>
              <a:t>Greater power requires a larger sample size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0B57FF-DC63-631E-45BE-8E4223C6E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F46F0-DE16-DE8C-C34C-51545651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44157-BDB3-F561-2BFB-FC8F8572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2850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We have all the ingredients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1AB89-54FA-9225-27D7-5CD7BCB41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Testable hypothesis</a:t>
            </a:r>
          </a:p>
          <a:p>
            <a:r>
              <a:rPr lang="en-US"/>
              <a:t>Study design: analytical</a:t>
            </a:r>
          </a:p>
          <a:p>
            <a:r>
              <a:rPr lang="en-US"/>
              <a:t>Effect size 10% vs. 5%</a:t>
            </a:r>
          </a:p>
          <a:p>
            <a:r>
              <a:rPr lang="en-US"/>
              <a:t>Power: 0.8 </a:t>
            </a:r>
          </a:p>
          <a:p>
            <a:r>
              <a:rPr lang="en-US"/>
              <a:t>alpha: two-sided 0.05</a:t>
            </a:r>
          </a:p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2FBEC-DDDE-279D-C0BD-88DC3B66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BC153-3065-C902-7CD0-817C0A1F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168D7-3900-9F8B-0786-91511FAE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772181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1" y="453898"/>
            <a:ext cx="9791700" cy="1143000"/>
          </a:xfrm>
        </p:spPr>
        <p:txBody>
          <a:bodyPr/>
          <a:lstStyle/>
          <a:p>
            <a:r>
              <a:rPr lang="en-US"/>
              <a:t>How to get the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53B1F-13DD-C9B4-C942-857C8B526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charset="0"/>
              <a:buChar char="•"/>
              <a:defRPr/>
            </a:pPr>
            <a:r>
              <a:rPr lang="en-US"/>
              <a:t>Use R</a:t>
            </a:r>
          </a:p>
          <a:p>
            <a:pPr marL="457200" indent="-457200">
              <a:buFont typeface="Arial" charset="0"/>
              <a:buChar char="•"/>
              <a:defRPr/>
            </a:pPr>
            <a:r>
              <a:rPr lang="en-US"/>
              <a:t>Online sample size calculators</a:t>
            </a:r>
          </a:p>
          <a:p>
            <a:pPr marL="914400" lvl="1" indent="-457200">
              <a:lnSpc>
                <a:spcPct val="90000"/>
              </a:lnSpc>
              <a:spcBef>
                <a:spcPct val="50000"/>
              </a:spcBef>
              <a:buClr>
                <a:srgbClr val="FF0208"/>
              </a:buClr>
              <a:buSzPct val="100000"/>
              <a:buFont typeface="Courier New" charset="0"/>
              <a:buChar char="o"/>
              <a:defRPr/>
            </a:pPr>
            <a:r>
              <a:rPr lang="en-US" sz="3000"/>
              <a:t>Fast and you don’t have to learn 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A98002-2601-972A-8189-B5C3F17F9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4ECFF-1C1F-05A2-1B95-D41B745D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918A1-746E-7A0D-8BC5-62586C72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415371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DA52B8-E767-83C2-CE55-6EB7A6A5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r>
              <a:rPr lang="en-US"/>
              <a:t>Online calculator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4A7E681-A846-CEB1-5EAD-BF6807A8B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https://ecebm.shinyapps.io/Power/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884EF-4570-EB47-A5E2-045D7315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en-US"/>
              <a:t>7-Feb-2026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EA88C-73F4-F92A-078E-2B04AC38F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en-US"/>
              <a:t>Prof. Ashraf Fawzy Nabhan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C118-F453-8CDA-DA33-BCE9DA77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D6A34DB-E9E0-AB4C-BA8A-3D6CB1DEB9B5}" type="slidenum">
              <a:rPr lang="en-US" altLang="en-US" smtClean="0"/>
              <a:pPr/>
              <a:t>34</a:t>
            </a:fld>
            <a:endParaRPr lang="en-US" altLang="en-US"/>
          </a:p>
        </p:txBody>
      </p:sp>
      <p:pic>
        <p:nvPicPr>
          <p:cNvPr id="9" name="Content Placeholder 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8AE5546-67C4-BC58-980A-85390B0CE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475" y="987425"/>
            <a:ext cx="4873625" cy="4873625"/>
          </a:xfrm>
        </p:spPr>
      </p:pic>
    </p:spTree>
    <p:extLst>
      <p:ext uri="{BB962C8B-B14F-4D97-AF65-F5344CB8AC3E}">
        <p14:creationId xmlns:p14="http://schemas.microsoft.com/office/powerpoint/2010/main" val="2973413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F6C5D-936D-42E2-B1E2-0FA5DE73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sample size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7571-AEE7-490F-BEF4-F74259A9E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not performing any calculations </a:t>
            </a:r>
          </a:p>
          <a:p>
            <a:r>
              <a:rPr lang="en-US"/>
              <a:t>selecting sample size based on convenience</a:t>
            </a:r>
          </a:p>
          <a:p>
            <a:r>
              <a:rPr lang="en-US"/>
              <a:t>making unrealistic assumptions</a:t>
            </a:r>
          </a:p>
          <a:p>
            <a:r>
              <a:rPr lang="en-US"/>
              <a:t>failing to account for potential losses during the study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5E387-4B92-4EFC-96B6-13A739C6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DCFE5-9E58-41A8-99FC-048247F2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08682-11CF-475B-BA57-DFA44BB4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B75D3B-C11D-4499-842A-56A8EC65D8F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97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up of coffee on a table&#10;&#10;Description automatically generated">
            <a:extLst>
              <a:ext uri="{FF2B5EF4-FFF2-40B4-BE49-F238E27FC236}">
                <a16:creationId xmlns:a16="http://schemas.microsoft.com/office/drawing/2014/main" id="{B810FFB5-238C-46DD-93AB-D5921A8E7D3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21432-2383-4083-AA30-2051F457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6903" y="385179"/>
            <a:ext cx="3877302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Prof. Ashraf Fawzy Nabhan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F7FD-970A-42C9-BB61-E7077025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9962" y="5519016"/>
            <a:ext cx="2184243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7-Feb-2026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4ED32-C8FD-4A15-8B90-68A46E3C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rgbClr val="7F7F7F"/>
          </a:solidFill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3FB75D3B-C11D-4499-842A-56A8EC65D8FA}" type="slidenum">
              <a:rPr lang="en-US">
                <a:solidFill>
                  <a:srgbClr val="FFFFFF"/>
                </a:solidFill>
              </a:rPr>
              <a:pPr algn="ctr">
                <a:spcAft>
                  <a:spcPts val="600"/>
                </a:spcAft>
              </a:pPr>
              <a:t>36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653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8BCB-F9BD-D70B-D414-D572C9DB0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F7327-40E6-1F3F-A194-BF0152D7E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4EC4D-C578-EC79-83F9-09612403C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5BEFD-71EC-835A-A5E1-105F13B66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3511D-F223-4653-BCB8-3DFACEF1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796F1F-455F-1E4C-8CA1-96303796BDF5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625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51741616-ED16-928D-5B9C-11C9DBEAC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Collection Form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FFAD98F2-B514-CC1C-22C4-2C6A7A2C26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Case Report Form</a:t>
            </a:r>
          </a:p>
          <a:p>
            <a:r>
              <a:rPr lang="en-US" altLang="en-US" dirty="0"/>
              <a:t>Questionnaire</a:t>
            </a:r>
          </a:p>
          <a:p>
            <a:r>
              <a:rPr lang="en-US" altLang="en-US" dirty="0"/>
              <a:t>Interview: Prompts and Responses</a:t>
            </a:r>
          </a:p>
          <a:p>
            <a:r>
              <a:rPr lang="en-US" altLang="en-US" dirty="0"/>
              <a:t>Instrument e.g., SF-36 (</a:t>
            </a:r>
            <a:r>
              <a:rPr lang="en-US" dirty="0"/>
              <a:t>36-item Short-Form Health Survey)</a:t>
            </a:r>
            <a:endParaRPr lang="en-US" altLang="en-US" dirty="0"/>
          </a:p>
          <a:p>
            <a:r>
              <a:rPr lang="en-US" altLang="en-US" dirty="0"/>
              <a:t>Medical Record Abstraction Form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39B6E-6E2F-C5B8-CC2C-F9666DBD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542ABB-74FA-D412-2187-2DC4EC031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99AE7-B8EB-BADB-CD26-2F0E7DD9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542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B39A-D9DA-491D-8651-99246E4B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Data Collection Forms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2AA57-47C7-44CB-9283-78C9E7FB7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is Mandatory to validate and replicate findings</a:t>
            </a:r>
          </a:p>
          <a:p>
            <a:pPr lvl="0" fontAlgn="base"/>
            <a:r>
              <a:rPr lang="en-US"/>
              <a:t>must reflect the protocol (i.e. Collect the variables of the study)</a:t>
            </a:r>
          </a:p>
          <a:p>
            <a:pPr fontAlgn="base"/>
            <a:r>
              <a:rPr lang="en-US"/>
              <a:t>must be developed and tested in advance</a:t>
            </a:r>
          </a:p>
          <a:p>
            <a:r>
              <a:rPr lang="en-US"/>
              <a:t>Is either a printed or electronic document.  </a:t>
            </a:r>
          </a:p>
          <a:p>
            <a:pPr lvl="1"/>
            <a:r>
              <a:rPr lang="en-US"/>
              <a:t>Paper data capture </a:t>
            </a:r>
            <a:r>
              <a:rPr lang="en-US">
                <a:sym typeface="Wingdings" pitchFamily="2" charset="2"/>
              </a:rPr>
              <a:t></a:t>
            </a:r>
            <a:r>
              <a:rPr lang="en-US"/>
              <a:t> Keyboard Transcription</a:t>
            </a:r>
          </a:p>
          <a:p>
            <a:pPr lvl="1"/>
            <a:r>
              <a:rPr lang="en-US"/>
              <a:t>Electronic data Capture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B57C-E0AB-4C45-A7FC-C7917BE31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617A3-8356-4E77-8632-4B1C2300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33E58-C8E2-46B6-AFAB-38DFBDD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D3B-C11D-4499-842A-56A8EC65D8F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82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3ACA1E43-86BB-7C41-32F9-6ACC444D6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Advantages of electronic Forms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9C951250-A31C-94C9-C783-0A361800DF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Avoid the transcription step</a:t>
            </a:r>
          </a:p>
          <a:p>
            <a:pPr eaLnBrk="1" hangingPunct="1"/>
            <a:r>
              <a:rPr lang="en-US" altLang="en-US"/>
              <a:t>Include validation checks</a:t>
            </a:r>
          </a:p>
          <a:p>
            <a:pPr eaLnBrk="1" hangingPunct="1"/>
            <a:r>
              <a:rPr lang="en-US" altLang="en-US"/>
              <a:t>Incorporate skip logic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C1AC8-0FF9-12CA-29A0-4BF8C271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7BDC9E-C99F-E7DF-5A10-B311042F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B48CC-1BEC-B521-8BBF-D041D5C5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3719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33C1EC79-E4B3-60C9-689F-875318146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Web-Based Data Collection Forms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2FF83077-4DD2-FBC5-59C5-B17B9E97C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en-US" dirty="0"/>
              <a:t>Google Forms</a:t>
            </a:r>
          </a:p>
          <a:p>
            <a:r>
              <a:rPr lang="en-US" altLang="en-US" dirty="0"/>
              <a:t>MS forms</a:t>
            </a:r>
          </a:p>
          <a:p>
            <a:r>
              <a:rPr lang="en-US" altLang="en-US" dirty="0"/>
              <a:t>Qualtrics</a:t>
            </a:r>
          </a:p>
          <a:p>
            <a:r>
              <a:rPr lang="en-US" altLang="en-US" dirty="0" err="1"/>
              <a:t>REDCap</a:t>
            </a:r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A5C3F-C7F1-BEEA-A46F-364B3B22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93C09F-BCC3-1067-8BDE-0F868716A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BE870-FA37-3664-274A-2C135609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3359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25F38-8649-36F2-86C7-49811904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57DE4429-61D4-B4C4-009D-93AE5E820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Principles: Clarity is the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B6079-503B-B819-61A9-F6EA0AF08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dirty="0"/>
              <a:t>The cover page should contain </a:t>
            </a:r>
          </a:p>
          <a:p>
            <a:pPr lvl="1" fontAlgn="base"/>
            <a:r>
              <a:rPr lang="en-US" dirty="0"/>
              <a:t>Consent check box</a:t>
            </a:r>
          </a:p>
          <a:p>
            <a:pPr lvl="1" fontAlgn="base"/>
            <a:r>
              <a:rPr lang="en-US" dirty="0"/>
              <a:t>Eligibility criteria – As a check list</a:t>
            </a:r>
          </a:p>
          <a:p>
            <a:r>
              <a:rPr lang="en-US" dirty="0"/>
              <a:t>Clear and concise questions, prompts, and instructions</a:t>
            </a:r>
          </a:p>
          <a:p>
            <a:pPr>
              <a:spcBef>
                <a:spcPts val="400"/>
              </a:spcBef>
            </a:pPr>
            <a:r>
              <a:rPr lang="en-US" dirty="0"/>
              <a:t>Clear guidance about skip patterns</a:t>
            </a:r>
          </a:p>
          <a:p>
            <a:pPr>
              <a:spcBef>
                <a:spcPts val="400"/>
              </a:spcBef>
            </a:pPr>
            <a:r>
              <a:rPr lang="en-US" dirty="0"/>
              <a:t>Use Visual cues</a:t>
            </a:r>
          </a:p>
          <a:p>
            <a:pPr>
              <a:spcBef>
                <a:spcPts val="400"/>
              </a:spcBef>
            </a:pPr>
            <a:r>
              <a:rPr lang="en-US" dirty="0"/>
              <a:t>Provide pre-coded answer options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DC57A-E9DD-8F6C-A5BC-ABD41D79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7-Feb-2026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05723-0438-BB87-1BBE-06AC12FC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Prof. Ashraf Fawzy Nabhan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FEBDC-E773-93B2-8092-C7605394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FB75D3B-C11D-4499-842A-56A8EC65D8F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02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F0F50B4-DC36-4F07-BE1E-76D5A562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Principles: Clarity is the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887BD-B13E-4391-A0D8-85292AF1C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lvl="0">
              <a:spcBef>
                <a:spcPts val="400"/>
              </a:spcBef>
            </a:pPr>
            <a:r>
              <a:rPr lang="en-US"/>
              <a:t>Avoid free text fields, where possible</a:t>
            </a:r>
          </a:p>
          <a:p>
            <a:pPr lvl="0">
              <a:spcBef>
                <a:spcPts val="400"/>
              </a:spcBef>
            </a:pPr>
            <a:r>
              <a:rPr lang="en-US"/>
              <a:t>Collect raw data not calculated data</a:t>
            </a:r>
          </a:p>
          <a:p>
            <a:pPr lvl="0">
              <a:spcBef>
                <a:spcPts val="400"/>
              </a:spcBef>
            </a:pPr>
            <a:r>
              <a:rPr lang="en-US"/>
              <a:t>a field (column) must contain only one type of data</a:t>
            </a:r>
          </a:p>
          <a:p>
            <a:pPr>
              <a:spcBef>
                <a:spcPts val="400"/>
              </a:spcBef>
            </a:pPr>
            <a:r>
              <a:rPr lang="en-US"/>
              <a:t>Specify the unit of measurement</a:t>
            </a:r>
          </a:p>
          <a:p>
            <a:pPr>
              <a:spcBef>
                <a:spcPts val="400"/>
              </a:spcBef>
            </a:pPr>
            <a:r>
              <a:rPr lang="en-US"/>
              <a:t>Indicate the number of decimal places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6B5D1-3F90-42C9-8B9F-1C0E2C46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7-Feb-2026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D382C-1766-47C1-9668-C800D3BC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Prof. Ashraf Fawzy Nabhan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D8443-66CB-41A7-83B2-41B8010D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FB75D3B-C11D-4499-842A-56A8EC65D8F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241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0277939C-75D6-FCB6-F699-DB000CE82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Raw data, not calculated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7CAF2-887C-1962-5F31-95417A846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Weight in kg, Height in cm, not BMI</a:t>
            </a:r>
          </a:p>
          <a:p>
            <a:pPr>
              <a:defRPr/>
            </a:pPr>
            <a:r>
              <a:rPr lang="en-US"/>
              <a:t>DOB and Date of Measurement, not Age</a:t>
            </a:r>
          </a:p>
          <a:p>
            <a:pPr>
              <a:defRPr/>
            </a:pPr>
            <a:r>
              <a:rPr lang="en-US"/>
              <a:t>Race, Sex, Creatinine, not eGFR.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EEB3E1-CE2C-E7A6-AB56-7C0B827E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74175-EC13-7F83-CDC7-6E1D8D9B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3F6F-4F40-B39C-81A0-EE37C2F4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7972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22B1-757B-6649-F911-409A7E0A2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956A7-4282-D3C4-910A-0A029848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 a field (column) must contain only one type of data</a:t>
            </a:r>
          </a:p>
          <a:p>
            <a:r>
              <a:rPr lang="en-US" dirty="0"/>
              <a:t>Wrong: BP field</a:t>
            </a:r>
          </a:p>
          <a:p>
            <a:r>
              <a:rPr lang="en-US" dirty="0"/>
              <a:t>Correct: two fields, one for SBP and another for the DBP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E60FF-B16D-B618-101C-AC748C2B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BA86-4EBA-B3F3-F51E-4528E749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54246-F0FE-5073-7E73-E6D33B0B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490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69CEF96-A617-DB90-F88E-D8E1FFBD0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Yes/No fields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BE4F1328-5121-1695-D381-B6F30FBE99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Answers are coded as 1 = Yes and 2 = No. </a:t>
            </a:r>
          </a:p>
          <a:p>
            <a:r>
              <a:rPr lang="en-US" dirty="0"/>
              <a:t>If the codes are assigned in this order, the same order should be practiced throughout the CRF</a:t>
            </a:r>
          </a:p>
          <a:p>
            <a:r>
              <a:rPr lang="en-US" altLang="en-US" dirty="0"/>
              <a:t>Be careful. In certain questions “No” may not be distinguished from blank.</a:t>
            </a:r>
          </a:p>
          <a:p>
            <a:r>
              <a:rPr lang="en-US" altLang="en-US" dirty="0"/>
              <a:t>Use option group with radio buttons and allow “Don’t Know”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7D3AD4-0714-B805-7620-F18AACA87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27AE73-94F9-516C-499E-4634DB09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CDCC8-0938-06DF-46BE-7152368DE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CF6008-086D-745D-8ADE-48AF9336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MECE fields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FB6676-05FE-8520-207D-47C31203F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/>
              <a:t>Mutually exclusive, collectively exhaustive choices are displayed as an “option group” of “radio buttons” or as a dropdown list.</a:t>
            </a:r>
          </a:p>
          <a:p>
            <a:pPr lvl="1"/>
            <a:r>
              <a:rPr lang="en-US" altLang="en-US" dirty="0"/>
              <a:t>Mutually Exclusive: e.g., age groups 0–10 and 11–20 do not overlap.</a:t>
            </a:r>
          </a:p>
          <a:p>
            <a:pPr lvl="1"/>
            <a:r>
              <a:rPr lang="en-US" altLang="en-US" dirty="0"/>
              <a:t>Collectively Exhaustive: e.g. categories of {&lt;20, 20–40, &gt;40} cover all ages. </a:t>
            </a:r>
          </a:p>
          <a:p>
            <a:r>
              <a:rPr lang="en-US" altLang="en-US" dirty="0"/>
              <a:t>Choices which are not mutually exclusive are displayed as check boxes e.g. co-morbidity: HTN, DM, </a:t>
            </a:r>
            <a:r>
              <a:rPr lang="en-US" altLang="en-US" dirty="0" err="1"/>
              <a:t>etc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F24C1-112D-2CC9-FCA8-50974DC4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3449FB-1704-C999-3B33-7E1AC5B4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A6442-7BD0-1045-4C52-733C2F1B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214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4EE45DC7-3B4A-33AE-507A-700CDCF62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/>
              <a:t>Data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B46B3-F72B-E3F7-B2CC-F876801F6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Field Name</a:t>
            </a:r>
          </a:p>
          <a:p>
            <a:r>
              <a:rPr lang="en-US"/>
              <a:t>Data Type (number, text, date)</a:t>
            </a:r>
          </a:p>
          <a:p>
            <a:r>
              <a:rPr lang="en-US"/>
              <a:t>Description/Label</a:t>
            </a:r>
          </a:p>
          <a:p>
            <a:r>
              <a:rPr lang="en-US"/>
              <a:t>Units (when appropriate)</a:t>
            </a:r>
          </a:p>
          <a:p>
            <a:r>
              <a:rPr lang="en-US"/>
              <a:t>Response options</a:t>
            </a:r>
          </a:p>
          <a:p>
            <a:r>
              <a:rPr lang="en-US"/>
              <a:t>Meaning of response codes (when appropriate)</a:t>
            </a:r>
          </a:p>
          <a:p>
            <a:r>
              <a:rPr lang="en-US"/>
              <a:t>Validation rules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D12A5-5AB1-D508-081C-B790BB190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97F23-63F9-D10E-274C-CA2FB911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7BEEC-272E-590E-ACB0-4AFB8C604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9245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F0F50B4-DC36-4F07-BE1E-76D5A562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poorly designed form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6B5D1-3F90-42C9-8B9F-1C0E2C46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7-Feb-2026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D382C-1766-47C1-9668-C800D3BC1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Ashraf Fawzy Nabhan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D8443-66CB-41A7-83B2-41B8010D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D3B-C11D-4499-842A-56A8EC65D8F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07A66-5AD8-4E83-B07F-DA6A58486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Date of visit: ___________</a:t>
            </a:r>
          </a:p>
          <a:p>
            <a:r>
              <a:rPr lang="en-US"/>
              <a:t>Blood pressure: _____ / _____</a:t>
            </a:r>
          </a:p>
          <a:p>
            <a:r>
              <a:rPr lang="en-US"/>
              <a:t>Pulse: _____</a:t>
            </a:r>
          </a:p>
          <a:p>
            <a:r>
              <a:rPr lang="en-US"/>
              <a:t>Temperature: _____</a:t>
            </a:r>
          </a:p>
          <a:p>
            <a:r>
              <a:rPr lang="en-US"/>
              <a:t>Respiration: _____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0994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F7F5-5422-4D3B-BCC2-28F2D15F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Well designed form Plus coding</a:t>
            </a:r>
          </a:p>
        </p:txBody>
      </p:sp>
      <p:graphicFrame>
        <p:nvGraphicFramePr>
          <p:cNvPr id="26" name="Content Placeholder 25">
            <a:extLst>
              <a:ext uri="{FF2B5EF4-FFF2-40B4-BE49-F238E27FC236}">
                <a16:creationId xmlns:a16="http://schemas.microsoft.com/office/drawing/2014/main" id="{9A409224-4B61-45C6-9BEE-DEFB1575DC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193208"/>
              </p:ext>
            </p:extLst>
          </p:nvPr>
        </p:nvGraphicFramePr>
        <p:xfrm>
          <a:off x="838200" y="1825624"/>
          <a:ext cx="10515600" cy="404177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386943">
                  <a:extLst>
                    <a:ext uri="{9D8B030D-6E8A-4147-A177-3AD203B41FA5}">
                      <a16:colId xmlns:a16="http://schemas.microsoft.com/office/drawing/2014/main" val="2851706705"/>
                    </a:ext>
                  </a:extLst>
                </a:gridCol>
                <a:gridCol w="6128657">
                  <a:extLst>
                    <a:ext uri="{9D8B030D-6E8A-4147-A177-3AD203B41FA5}">
                      <a16:colId xmlns:a16="http://schemas.microsoft.com/office/drawing/2014/main" val="692965096"/>
                    </a:ext>
                  </a:extLst>
                </a:gridCol>
              </a:tblGrid>
              <a:tr h="6736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Data of Birth (DD/MM/YYYY)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☐☐/ ☐☐/ ☐☐ ☐☐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523022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Gender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M ☐ 1                 F ☐ 2</a:t>
                      </a:r>
                      <a:endParaRPr lang="en-US" sz="160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579996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Height (cm)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☐☐☐.☐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884921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Weight (Kg)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☐☐☐.☐☐ 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129581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Smoker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Yes ☐ 1            No ☐ 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600121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Sexually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Yes ☐ 1            No ☐ 2              NA ☐ 9</a:t>
                      </a:r>
                      <a:r>
                        <a:rPr lang="en-US" sz="1600" dirty="0">
                          <a:effectLst/>
                        </a:rPr>
                        <a:t>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1595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1127-977D-4323-814D-D0AB2762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23561-F65F-4F78-8456-524C04F2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C739F-2738-4DCF-828B-57BEEC21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75D3B-C11D-4499-842A-56A8EC65D8F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191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8C7A3978-7C7F-6BB9-5354-980AA260B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Test Your Form!</a:t>
            </a:r>
          </a:p>
        </p:txBody>
      </p:sp>
      <p:sp>
        <p:nvSpPr>
          <p:cNvPr id="73730" name="Content Placeholder 2">
            <a:extLst>
              <a:ext uri="{FF2B5EF4-FFF2-40B4-BE49-F238E27FC236}">
                <a16:creationId xmlns:a16="http://schemas.microsoft.com/office/drawing/2014/main" id="{17E22A26-1A3A-B3D0-D322-2B07659AE9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Fill it out yourself (and time yourself)</a:t>
            </a:r>
          </a:p>
          <a:p>
            <a:r>
              <a:rPr lang="en-US" altLang="en-US" dirty="0"/>
              <a:t>Have your team members fill it out (time them)</a:t>
            </a:r>
          </a:p>
          <a:p>
            <a:r>
              <a:rPr lang="en-US" altLang="en-US" dirty="0"/>
              <a:t>Try it out on a potentially eligible participant (time them)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8048E0-29F9-9336-FBE6-34A6A535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28A86-059A-5E28-4E82-8252EF29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67CF6-11E2-028C-3F3B-E9262D71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EE368D-427B-7843-BB59-7535A31AAFE4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41567-4D94-70C0-39CB-DC0CE561B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cup of coffee on a table&#10;&#10;Description automatically generated">
            <a:extLst>
              <a:ext uri="{FF2B5EF4-FFF2-40B4-BE49-F238E27FC236}">
                <a16:creationId xmlns:a16="http://schemas.microsoft.com/office/drawing/2014/main" id="{2B794AC0-8C4F-07E6-E2F3-F291D6F10E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3" y="10"/>
            <a:ext cx="10655455" cy="6857990"/>
          </a:xfrm>
          <a:custGeom>
            <a:avLst/>
            <a:gdLst>
              <a:gd name="connsiteX0" fmla="*/ 8526285 w 10655455"/>
              <a:gd name="connsiteY0" fmla="*/ 6283111 h 6858000"/>
              <a:gd name="connsiteX1" fmla="*/ 10157124 w 10655455"/>
              <a:gd name="connsiteY1" fmla="*/ 6283111 h 6858000"/>
              <a:gd name="connsiteX2" fmla="*/ 10407209 w 10655455"/>
              <a:gd name="connsiteY2" fmla="*/ 6430504 h 6858000"/>
              <a:gd name="connsiteX3" fmla="*/ 10606716 w 10655455"/>
              <a:gd name="connsiteY3" fmla="*/ 6774068 h 6858000"/>
              <a:gd name="connsiteX4" fmla="*/ 10655455 w 10655455"/>
              <a:gd name="connsiteY4" fmla="*/ 6858000 h 6858000"/>
              <a:gd name="connsiteX5" fmla="*/ 8025501 w 10655455"/>
              <a:gd name="connsiteY5" fmla="*/ 6858000 h 6858000"/>
              <a:gd name="connsiteX6" fmla="*/ 8129453 w 10655455"/>
              <a:gd name="connsiteY6" fmla="*/ 6678214 h 6858000"/>
              <a:gd name="connsiteX7" fmla="*/ 8272677 w 10655455"/>
              <a:gd name="connsiteY7" fmla="*/ 6430504 h 6858000"/>
              <a:gd name="connsiteX8" fmla="*/ 8526285 w 10655455"/>
              <a:gd name="connsiteY8" fmla="*/ 6283111 h 6858000"/>
              <a:gd name="connsiteX9" fmla="*/ 8508611 w 10655455"/>
              <a:gd name="connsiteY9" fmla="*/ 4776272 h 6858000"/>
              <a:gd name="connsiteX10" fmla="*/ 9153763 w 10655455"/>
              <a:gd name="connsiteY10" fmla="*/ 4776272 h 6858000"/>
              <a:gd name="connsiteX11" fmla="*/ 9252696 w 10655455"/>
              <a:gd name="connsiteY11" fmla="*/ 4834580 h 6858000"/>
              <a:gd name="connsiteX12" fmla="*/ 9575969 w 10655455"/>
              <a:gd name="connsiteY12" fmla="*/ 5391278 h 6858000"/>
              <a:gd name="connsiteX13" fmla="*/ 9575969 w 10655455"/>
              <a:gd name="connsiteY13" fmla="*/ 5505116 h 6858000"/>
              <a:gd name="connsiteX14" fmla="*/ 9252696 w 10655455"/>
              <a:gd name="connsiteY14" fmla="*/ 6061815 h 6858000"/>
              <a:gd name="connsiteX15" fmla="*/ 9153763 w 10655455"/>
              <a:gd name="connsiteY15" fmla="*/ 6120122 h 6858000"/>
              <a:gd name="connsiteX16" fmla="*/ 8508611 w 10655455"/>
              <a:gd name="connsiteY16" fmla="*/ 6120122 h 6858000"/>
              <a:gd name="connsiteX17" fmla="*/ 8408284 w 10655455"/>
              <a:gd name="connsiteY17" fmla="*/ 6061815 h 6858000"/>
              <a:gd name="connsiteX18" fmla="*/ 8086404 w 10655455"/>
              <a:gd name="connsiteY18" fmla="*/ 5505116 h 6858000"/>
              <a:gd name="connsiteX19" fmla="*/ 8086404 w 10655455"/>
              <a:gd name="connsiteY19" fmla="*/ 5391278 h 6858000"/>
              <a:gd name="connsiteX20" fmla="*/ 8408284 w 10655455"/>
              <a:gd name="connsiteY20" fmla="*/ 4834580 h 6858000"/>
              <a:gd name="connsiteX21" fmla="*/ 8508611 w 10655455"/>
              <a:gd name="connsiteY21" fmla="*/ 4776272 h 6858000"/>
              <a:gd name="connsiteX22" fmla="*/ 8438383 w 10655455"/>
              <a:gd name="connsiteY22" fmla="*/ 4182594 h 6858000"/>
              <a:gd name="connsiteX23" fmla="*/ 8671249 w 10655455"/>
              <a:gd name="connsiteY23" fmla="*/ 4182594 h 6858000"/>
              <a:gd name="connsiteX24" fmla="*/ 8706958 w 10655455"/>
              <a:gd name="connsiteY24" fmla="*/ 4203640 h 6858000"/>
              <a:gd name="connsiteX25" fmla="*/ 8823642 w 10655455"/>
              <a:gd name="connsiteY25" fmla="*/ 4404579 h 6858000"/>
              <a:gd name="connsiteX26" fmla="*/ 8823642 w 10655455"/>
              <a:gd name="connsiteY26" fmla="*/ 4445668 h 6858000"/>
              <a:gd name="connsiteX27" fmla="*/ 8706958 w 10655455"/>
              <a:gd name="connsiteY27" fmla="*/ 4646606 h 6858000"/>
              <a:gd name="connsiteX28" fmla="*/ 8671249 w 10655455"/>
              <a:gd name="connsiteY28" fmla="*/ 4667652 h 6858000"/>
              <a:gd name="connsiteX29" fmla="*/ 8438383 w 10655455"/>
              <a:gd name="connsiteY29" fmla="*/ 4667652 h 6858000"/>
              <a:gd name="connsiteX30" fmla="*/ 8402170 w 10655455"/>
              <a:gd name="connsiteY30" fmla="*/ 4646606 h 6858000"/>
              <a:gd name="connsiteX31" fmla="*/ 8285989 w 10655455"/>
              <a:gd name="connsiteY31" fmla="*/ 4445668 h 6858000"/>
              <a:gd name="connsiteX32" fmla="*/ 8285989 w 10655455"/>
              <a:gd name="connsiteY32" fmla="*/ 4404579 h 6858000"/>
              <a:gd name="connsiteX33" fmla="*/ 8402170 w 10655455"/>
              <a:gd name="connsiteY33" fmla="*/ 4203640 h 6858000"/>
              <a:gd name="connsiteX34" fmla="*/ 8438383 w 10655455"/>
              <a:gd name="connsiteY34" fmla="*/ 4182594 h 6858000"/>
              <a:gd name="connsiteX35" fmla="*/ 7678681 w 10655455"/>
              <a:gd name="connsiteY35" fmla="*/ 3459104 h 6858000"/>
              <a:gd name="connsiteX36" fmla="*/ 8119685 w 10655455"/>
              <a:gd name="connsiteY36" fmla="*/ 3459104 h 6858000"/>
              <a:gd name="connsiteX37" fmla="*/ 8187313 w 10655455"/>
              <a:gd name="connsiteY37" fmla="*/ 3498961 h 6858000"/>
              <a:gd name="connsiteX38" fmla="*/ 8408292 w 10655455"/>
              <a:gd name="connsiteY38" fmla="*/ 3879501 h 6858000"/>
              <a:gd name="connsiteX39" fmla="*/ 8408292 w 10655455"/>
              <a:gd name="connsiteY39" fmla="*/ 3957318 h 6858000"/>
              <a:gd name="connsiteX40" fmla="*/ 8187313 w 10655455"/>
              <a:gd name="connsiteY40" fmla="*/ 4337857 h 6858000"/>
              <a:gd name="connsiteX41" fmla="*/ 8119685 w 10655455"/>
              <a:gd name="connsiteY41" fmla="*/ 4377714 h 6858000"/>
              <a:gd name="connsiteX42" fmla="*/ 7678681 w 10655455"/>
              <a:gd name="connsiteY42" fmla="*/ 4377714 h 6858000"/>
              <a:gd name="connsiteX43" fmla="*/ 7610101 w 10655455"/>
              <a:gd name="connsiteY43" fmla="*/ 4337857 h 6858000"/>
              <a:gd name="connsiteX44" fmla="*/ 7390076 w 10655455"/>
              <a:gd name="connsiteY44" fmla="*/ 3957318 h 6858000"/>
              <a:gd name="connsiteX45" fmla="*/ 7390076 w 10655455"/>
              <a:gd name="connsiteY45" fmla="*/ 3879501 h 6858000"/>
              <a:gd name="connsiteX46" fmla="*/ 7610101 w 10655455"/>
              <a:gd name="connsiteY46" fmla="*/ 3498961 h 6858000"/>
              <a:gd name="connsiteX47" fmla="*/ 7678681 w 10655455"/>
              <a:gd name="connsiteY47" fmla="*/ 3459104 h 6858000"/>
              <a:gd name="connsiteX48" fmla="*/ 9108816 w 10655455"/>
              <a:gd name="connsiteY48" fmla="*/ 2082751 h 6858000"/>
              <a:gd name="connsiteX49" fmla="*/ 9876937 w 10655455"/>
              <a:gd name="connsiteY49" fmla="*/ 2082751 h 6858000"/>
              <a:gd name="connsiteX50" fmla="*/ 9994727 w 10655455"/>
              <a:gd name="connsiteY50" fmla="*/ 2152172 h 6858000"/>
              <a:gd name="connsiteX51" fmla="*/ 10379617 w 10655455"/>
              <a:gd name="connsiteY51" fmla="*/ 2814978 h 6858000"/>
              <a:gd name="connsiteX52" fmla="*/ 10379617 w 10655455"/>
              <a:gd name="connsiteY52" fmla="*/ 2950515 h 6858000"/>
              <a:gd name="connsiteX53" fmla="*/ 9994727 w 10655455"/>
              <a:gd name="connsiteY53" fmla="*/ 3613321 h 6858000"/>
              <a:gd name="connsiteX54" fmla="*/ 9876937 w 10655455"/>
              <a:gd name="connsiteY54" fmla="*/ 3682742 h 6858000"/>
              <a:gd name="connsiteX55" fmla="*/ 9108816 w 10655455"/>
              <a:gd name="connsiteY55" fmla="*/ 3682742 h 6858000"/>
              <a:gd name="connsiteX56" fmla="*/ 8989367 w 10655455"/>
              <a:gd name="connsiteY56" fmla="*/ 3613321 h 6858000"/>
              <a:gd name="connsiteX57" fmla="*/ 8606137 w 10655455"/>
              <a:gd name="connsiteY57" fmla="*/ 2950515 h 6858000"/>
              <a:gd name="connsiteX58" fmla="*/ 8606137 w 10655455"/>
              <a:gd name="connsiteY58" fmla="*/ 2814978 h 6858000"/>
              <a:gd name="connsiteX59" fmla="*/ 8989367 w 10655455"/>
              <a:gd name="connsiteY59" fmla="*/ 2152172 h 6858000"/>
              <a:gd name="connsiteX60" fmla="*/ 9108816 w 10655455"/>
              <a:gd name="connsiteY60" fmla="*/ 2082751 h 6858000"/>
              <a:gd name="connsiteX61" fmla="*/ 1321854 w 10655455"/>
              <a:gd name="connsiteY61" fmla="*/ 2071857 h 6858000"/>
              <a:gd name="connsiteX62" fmla="*/ 5365317 w 10655455"/>
              <a:gd name="connsiteY62" fmla="*/ 2071857 h 6858000"/>
              <a:gd name="connsiteX63" fmla="*/ 5985373 w 10655455"/>
              <a:gd name="connsiteY63" fmla="*/ 2437296 h 6858000"/>
              <a:gd name="connsiteX64" fmla="*/ 8011470 w 10655455"/>
              <a:gd name="connsiteY64" fmla="*/ 5926372 h 6858000"/>
              <a:gd name="connsiteX65" fmla="*/ 8011470 w 10655455"/>
              <a:gd name="connsiteY65" fmla="*/ 6639850 h 6858000"/>
              <a:gd name="connsiteX66" fmla="*/ 7904625 w 10655455"/>
              <a:gd name="connsiteY66" fmla="*/ 6823844 h 6858000"/>
              <a:gd name="connsiteX67" fmla="*/ 7884791 w 10655455"/>
              <a:gd name="connsiteY67" fmla="*/ 6858000 h 6858000"/>
              <a:gd name="connsiteX68" fmla="*/ 0 w 10655455"/>
              <a:gd name="connsiteY68" fmla="*/ 6858000 h 6858000"/>
              <a:gd name="connsiteX69" fmla="*/ 0 w 10655455"/>
              <a:gd name="connsiteY69" fmla="*/ 3635967 h 6858000"/>
              <a:gd name="connsiteX70" fmla="*/ 27177 w 10655455"/>
              <a:gd name="connsiteY70" fmla="*/ 3588964 h 6858000"/>
              <a:gd name="connsiteX71" fmla="*/ 693065 w 10655455"/>
              <a:gd name="connsiteY71" fmla="*/ 2437296 h 6858000"/>
              <a:gd name="connsiteX72" fmla="*/ 1321854 w 10655455"/>
              <a:gd name="connsiteY72" fmla="*/ 2071857 h 6858000"/>
              <a:gd name="connsiteX73" fmla="*/ 6786399 w 10655455"/>
              <a:gd name="connsiteY73" fmla="*/ 753840 h 6858000"/>
              <a:gd name="connsiteX74" fmla="*/ 8025968 w 10655455"/>
              <a:gd name="connsiteY74" fmla="*/ 753840 h 6858000"/>
              <a:gd name="connsiteX75" fmla="*/ 8216053 w 10655455"/>
              <a:gd name="connsiteY75" fmla="*/ 865869 h 6858000"/>
              <a:gd name="connsiteX76" fmla="*/ 8837177 w 10655455"/>
              <a:gd name="connsiteY76" fmla="*/ 1935484 h 6858000"/>
              <a:gd name="connsiteX77" fmla="*/ 8837177 w 10655455"/>
              <a:gd name="connsiteY77" fmla="*/ 2154207 h 6858000"/>
              <a:gd name="connsiteX78" fmla="*/ 8216053 w 10655455"/>
              <a:gd name="connsiteY78" fmla="*/ 3223823 h 6858000"/>
              <a:gd name="connsiteX79" fmla="*/ 8025968 w 10655455"/>
              <a:gd name="connsiteY79" fmla="*/ 3335852 h 6858000"/>
              <a:gd name="connsiteX80" fmla="*/ 6786399 w 10655455"/>
              <a:gd name="connsiteY80" fmla="*/ 3335852 h 6858000"/>
              <a:gd name="connsiteX81" fmla="*/ 6593637 w 10655455"/>
              <a:gd name="connsiteY81" fmla="*/ 3223823 h 6858000"/>
              <a:gd name="connsiteX82" fmla="*/ 5975192 w 10655455"/>
              <a:gd name="connsiteY82" fmla="*/ 2154207 h 6858000"/>
              <a:gd name="connsiteX83" fmla="*/ 5975192 w 10655455"/>
              <a:gd name="connsiteY83" fmla="*/ 1935484 h 6858000"/>
              <a:gd name="connsiteX84" fmla="*/ 6593637 w 10655455"/>
              <a:gd name="connsiteY84" fmla="*/ 865869 h 6858000"/>
              <a:gd name="connsiteX85" fmla="*/ 6786399 w 10655455"/>
              <a:gd name="connsiteY85" fmla="*/ 753840 h 6858000"/>
              <a:gd name="connsiteX86" fmla="*/ 0 w 10655455"/>
              <a:gd name="connsiteY86" fmla="*/ 0 h 6858000"/>
              <a:gd name="connsiteX87" fmla="*/ 6966294 w 10655455"/>
              <a:gd name="connsiteY87" fmla="*/ 0 h 6858000"/>
              <a:gd name="connsiteX88" fmla="*/ 6852387 w 10655455"/>
              <a:gd name="connsiteY88" fmla="*/ 196155 h 6858000"/>
              <a:gd name="connsiteX89" fmla="*/ 6043322 w 10655455"/>
              <a:gd name="connsiteY89" fmla="*/ 1589421 h 6858000"/>
              <a:gd name="connsiteX90" fmla="*/ 5423265 w 10655455"/>
              <a:gd name="connsiteY90" fmla="*/ 1954861 h 6858000"/>
              <a:gd name="connsiteX91" fmla="*/ 1379802 w 10655455"/>
              <a:gd name="connsiteY91" fmla="*/ 1954861 h 6858000"/>
              <a:gd name="connsiteX92" fmla="*/ 751013 w 10655455"/>
              <a:gd name="connsiteY92" fmla="*/ 1589421 h 6858000"/>
              <a:gd name="connsiteX93" fmla="*/ 1951 w 10655455"/>
              <a:gd name="connsiteY93" fmla="*/ 293901 h 6858000"/>
              <a:gd name="connsiteX94" fmla="*/ 0 w 10655455"/>
              <a:gd name="connsiteY94" fmla="*/ 2905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0655455" h="6858000">
                <a:moveTo>
                  <a:pt x="8526285" y="6283111"/>
                </a:moveTo>
                <a:cubicBezTo>
                  <a:pt x="8526285" y="6283111"/>
                  <a:pt x="8526285" y="6283111"/>
                  <a:pt x="10157124" y="6283111"/>
                </a:cubicBezTo>
                <a:cubicBezTo>
                  <a:pt x="10259271" y="6283111"/>
                  <a:pt x="10357896" y="6339261"/>
                  <a:pt x="10407209" y="6430504"/>
                </a:cubicBezTo>
                <a:cubicBezTo>
                  <a:pt x="10407209" y="6430504"/>
                  <a:pt x="10407209" y="6430504"/>
                  <a:pt x="10606716" y="6774068"/>
                </a:cubicBezTo>
                <a:lnTo>
                  <a:pt x="10655455" y="6858000"/>
                </a:lnTo>
                <a:lnTo>
                  <a:pt x="8025501" y="6858000"/>
                </a:lnTo>
                <a:lnTo>
                  <a:pt x="8129453" y="6678214"/>
                </a:lnTo>
                <a:cubicBezTo>
                  <a:pt x="8174148" y="6600912"/>
                  <a:pt x="8221824" y="6518457"/>
                  <a:pt x="8272677" y="6430504"/>
                </a:cubicBezTo>
                <a:cubicBezTo>
                  <a:pt x="8325512" y="6339261"/>
                  <a:pt x="8420615" y="6283111"/>
                  <a:pt x="8526285" y="6283111"/>
                </a:cubicBezTo>
                <a:close/>
                <a:moveTo>
                  <a:pt x="8508611" y="4776272"/>
                </a:moveTo>
                <a:cubicBezTo>
                  <a:pt x="8508611" y="4776272"/>
                  <a:pt x="8508611" y="4776272"/>
                  <a:pt x="9153763" y="4776272"/>
                </a:cubicBezTo>
                <a:cubicBezTo>
                  <a:pt x="9194173" y="4776272"/>
                  <a:pt x="9233188" y="4798484"/>
                  <a:pt x="9252696" y="4834580"/>
                </a:cubicBezTo>
                <a:cubicBezTo>
                  <a:pt x="9252696" y="4834580"/>
                  <a:pt x="9252696" y="4834580"/>
                  <a:pt x="9575969" y="5391278"/>
                </a:cubicBezTo>
                <a:cubicBezTo>
                  <a:pt x="9596871" y="5425985"/>
                  <a:pt x="9596871" y="5470409"/>
                  <a:pt x="9575969" y="5505116"/>
                </a:cubicBezTo>
                <a:cubicBezTo>
                  <a:pt x="9575969" y="5505116"/>
                  <a:pt x="9575969" y="5505116"/>
                  <a:pt x="9252696" y="6061815"/>
                </a:cubicBezTo>
                <a:cubicBezTo>
                  <a:pt x="9233188" y="6097909"/>
                  <a:pt x="9194173" y="6120122"/>
                  <a:pt x="9153763" y="6120122"/>
                </a:cubicBezTo>
                <a:cubicBezTo>
                  <a:pt x="9153763" y="6120122"/>
                  <a:pt x="9153763" y="6120122"/>
                  <a:pt x="8508611" y="6120122"/>
                </a:cubicBezTo>
                <a:cubicBezTo>
                  <a:pt x="8466808" y="6120122"/>
                  <a:pt x="8429186" y="6097909"/>
                  <a:pt x="8408284" y="6061815"/>
                </a:cubicBezTo>
                <a:cubicBezTo>
                  <a:pt x="8408284" y="6061815"/>
                  <a:pt x="8408284" y="6061815"/>
                  <a:pt x="8086404" y="5505116"/>
                </a:cubicBezTo>
                <a:cubicBezTo>
                  <a:pt x="8065503" y="5470409"/>
                  <a:pt x="8065503" y="5425985"/>
                  <a:pt x="8086404" y="5391278"/>
                </a:cubicBezTo>
                <a:cubicBezTo>
                  <a:pt x="8086404" y="5391278"/>
                  <a:pt x="8086404" y="5391278"/>
                  <a:pt x="8408284" y="4834580"/>
                </a:cubicBezTo>
                <a:cubicBezTo>
                  <a:pt x="8429186" y="4798484"/>
                  <a:pt x="8466808" y="4776272"/>
                  <a:pt x="8508611" y="4776272"/>
                </a:cubicBezTo>
                <a:close/>
                <a:moveTo>
                  <a:pt x="8438383" y="4182594"/>
                </a:moveTo>
                <a:cubicBezTo>
                  <a:pt x="8438383" y="4182594"/>
                  <a:pt x="8438383" y="4182594"/>
                  <a:pt x="8671249" y="4182594"/>
                </a:cubicBezTo>
                <a:cubicBezTo>
                  <a:pt x="8685834" y="4182594"/>
                  <a:pt x="8699916" y="4190612"/>
                  <a:pt x="8706958" y="4203640"/>
                </a:cubicBezTo>
                <a:cubicBezTo>
                  <a:pt x="8706958" y="4203640"/>
                  <a:pt x="8706958" y="4203640"/>
                  <a:pt x="8823642" y="4404579"/>
                </a:cubicBezTo>
                <a:cubicBezTo>
                  <a:pt x="8831187" y="4417106"/>
                  <a:pt x="8831187" y="4433141"/>
                  <a:pt x="8823642" y="4445668"/>
                </a:cubicBezTo>
                <a:cubicBezTo>
                  <a:pt x="8823642" y="4445668"/>
                  <a:pt x="8823642" y="4445668"/>
                  <a:pt x="8706958" y="4646606"/>
                </a:cubicBezTo>
                <a:cubicBezTo>
                  <a:pt x="8699916" y="4659635"/>
                  <a:pt x="8685834" y="4667652"/>
                  <a:pt x="8671249" y="4667652"/>
                </a:cubicBezTo>
                <a:cubicBezTo>
                  <a:pt x="8671249" y="4667652"/>
                  <a:pt x="8671249" y="4667652"/>
                  <a:pt x="8438383" y="4667652"/>
                </a:cubicBezTo>
                <a:cubicBezTo>
                  <a:pt x="8423295" y="4667652"/>
                  <a:pt x="8409715" y="4659635"/>
                  <a:pt x="8402170" y="4646606"/>
                </a:cubicBezTo>
                <a:cubicBezTo>
                  <a:pt x="8402170" y="4646606"/>
                  <a:pt x="8402170" y="4646606"/>
                  <a:pt x="8285989" y="4445668"/>
                </a:cubicBezTo>
                <a:cubicBezTo>
                  <a:pt x="8278445" y="4433141"/>
                  <a:pt x="8278445" y="4417106"/>
                  <a:pt x="8285989" y="4404579"/>
                </a:cubicBezTo>
                <a:cubicBezTo>
                  <a:pt x="8285989" y="4404579"/>
                  <a:pt x="8285989" y="4404579"/>
                  <a:pt x="8402170" y="4203640"/>
                </a:cubicBezTo>
                <a:cubicBezTo>
                  <a:pt x="8409715" y="4190612"/>
                  <a:pt x="8423295" y="4182594"/>
                  <a:pt x="8438383" y="4182594"/>
                </a:cubicBezTo>
                <a:close/>
                <a:moveTo>
                  <a:pt x="7678681" y="3459104"/>
                </a:moveTo>
                <a:cubicBezTo>
                  <a:pt x="7678681" y="3459104"/>
                  <a:pt x="7678681" y="3459104"/>
                  <a:pt x="8119685" y="3459104"/>
                </a:cubicBezTo>
                <a:cubicBezTo>
                  <a:pt x="8147308" y="3459104"/>
                  <a:pt x="8173978" y="3474287"/>
                  <a:pt x="8187313" y="3498961"/>
                </a:cubicBezTo>
                <a:cubicBezTo>
                  <a:pt x="8187313" y="3498961"/>
                  <a:pt x="8187313" y="3498961"/>
                  <a:pt x="8408292" y="3879501"/>
                </a:cubicBezTo>
                <a:cubicBezTo>
                  <a:pt x="8422579" y="3903225"/>
                  <a:pt x="8422579" y="3933593"/>
                  <a:pt x="8408292" y="3957318"/>
                </a:cubicBezTo>
                <a:cubicBezTo>
                  <a:pt x="8408292" y="3957318"/>
                  <a:pt x="8408292" y="3957318"/>
                  <a:pt x="8187313" y="4337857"/>
                </a:cubicBezTo>
                <a:cubicBezTo>
                  <a:pt x="8173978" y="4362531"/>
                  <a:pt x="8147308" y="4377714"/>
                  <a:pt x="8119685" y="4377714"/>
                </a:cubicBezTo>
                <a:cubicBezTo>
                  <a:pt x="8119685" y="4377714"/>
                  <a:pt x="8119685" y="4377714"/>
                  <a:pt x="7678681" y="4377714"/>
                </a:cubicBezTo>
                <a:cubicBezTo>
                  <a:pt x="7650106" y="4377714"/>
                  <a:pt x="7624388" y="4362531"/>
                  <a:pt x="7610101" y="4337857"/>
                </a:cubicBezTo>
                <a:cubicBezTo>
                  <a:pt x="7610101" y="4337857"/>
                  <a:pt x="7610101" y="4337857"/>
                  <a:pt x="7390076" y="3957318"/>
                </a:cubicBezTo>
                <a:cubicBezTo>
                  <a:pt x="7375787" y="3933593"/>
                  <a:pt x="7375787" y="3903225"/>
                  <a:pt x="7390076" y="3879501"/>
                </a:cubicBezTo>
                <a:cubicBezTo>
                  <a:pt x="7390076" y="3879501"/>
                  <a:pt x="7390076" y="3879501"/>
                  <a:pt x="7610101" y="3498961"/>
                </a:cubicBezTo>
                <a:cubicBezTo>
                  <a:pt x="7624388" y="3474287"/>
                  <a:pt x="7650106" y="3459104"/>
                  <a:pt x="7678681" y="3459104"/>
                </a:cubicBezTo>
                <a:close/>
                <a:moveTo>
                  <a:pt x="9108816" y="2082751"/>
                </a:moveTo>
                <a:cubicBezTo>
                  <a:pt x="9108816" y="2082751"/>
                  <a:pt x="9108816" y="2082751"/>
                  <a:pt x="9876937" y="2082751"/>
                </a:cubicBezTo>
                <a:cubicBezTo>
                  <a:pt x="9925048" y="2082751"/>
                  <a:pt x="9971500" y="2109197"/>
                  <a:pt x="9994727" y="2152172"/>
                </a:cubicBezTo>
                <a:cubicBezTo>
                  <a:pt x="9994727" y="2152172"/>
                  <a:pt x="9994727" y="2152172"/>
                  <a:pt x="10379617" y="2814978"/>
                </a:cubicBezTo>
                <a:cubicBezTo>
                  <a:pt x="10404502" y="2856301"/>
                  <a:pt x="10404502" y="2909193"/>
                  <a:pt x="10379617" y="2950515"/>
                </a:cubicBezTo>
                <a:cubicBezTo>
                  <a:pt x="10379617" y="2950515"/>
                  <a:pt x="10379617" y="2950515"/>
                  <a:pt x="9994727" y="3613321"/>
                </a:cubicBezTo>
                <a:cubicBezTo>
                  <a:pt x="9971500" y="3656296"/>
                  <a:pt x="9925048" y="3682742"/>
                  <a:pt x="9876937" y="3682742"/>
                </a:cubicBezTo>
                <a:cubicBezTo>
                  <a:pt x="9876937" y="3682742"/>
                  <a:pt x="9876937" y="3682742"/>
                  <a:pt x="9108816" y="3682742"/>
                </a:cubicBezTo>
                <a:cubicBezTo>
                  <a:pt x="9059045" y="3682742"/>
                  <a:pt x="9014252" y="3656296"/>
                  <a:pt x="8989367" y="3613321"/>
                </a:cubicBezTo>
                <a:cubicBezTo>
                  <a:pt x="8989367" y="3613321"/>
                  <a:pt x="8989367" y="3613321"/>
                  <a:pt x="8606137" y="2950515"/>
                </a:cubicBezTo>
                <a:cubicBezTo>
                  <a:pt x="8581251" y="2909193"/>
                  <a:pt x="8581251" y="2856301"/>
                  <a:pt x="8606137" y="2814978"/>
                </a:cubicBezTo>
                <a:cubicBezTo>
                  <a:pt x="8606137" y="2814978"/>
                  <a:pt x="8606137" y="2814978"/>
                  <a:pt x="8989367" y="2152172"/>
                </a:cubicBezTo>
                <a:cubicBezTo>
                  <a:pt x="9014252" y="2109197"/>
                  <a:pt x="9059045" y="2082751"/>
                  <a:pt x="9108816" y="2082751"/>
                </a:cubicBezTo>
                <a:close/>
                <a:moveTo>
                  <a:pt x="1321854" y="2071857"/>
                </a:moveTo>
                <a:cubicBezTo>
                  <a:pt x="1321854" y="2071857"/>
                  <a:pt x="1321854" y="2071857"/>
                  <a:pt x="5365317" y="2071857"/>
                </a:cubicBezTo>
                <a:cubicBezTo>
                  <a:pt x="5618580" y="2071857"/>
                  <a:pt x="5863108" y="2211072"/>
                  <a:pt x="5985373" y="2437296"/>
                </a:cubicBezTo>
                <a:cubicBezTo>
                  <a:pt x="5985373" y="2437296"/>
                  <a:pt x="5985373" y="2437296"/>
                  <a:pt x="8011470" y="5926372"/>
                </a:cubicBezTo>
                <a:cubicBezTo>
                  <a:pt x="8142468" y="6143896"/>
                  <a:pt x="8142468" y="6422327"/>
                  <a:pt x="8011470" y="6639850"/>
                </a:cubicBezTo>
                <a:cubicBezTo>
                  <a:pt x="8011470" y="6639850"/>
                  <a:pt x="8011470" y="6639850"/>
                  <a:pt x="7904625" y="6823844"/>
                </a:cubicBezTo>
                <a:lnTo>
                  <a:pt x="7884791" y="6858000"/>
                </a:lnTo>
                <a:lnTo>
                  <a:pt x="0" y="6858000"/>
                </a:lnTo>
                <a:lnTo>
                  <a:pt x="0" y="3635967"/>
                </a:lnTo>
                <a:lnTo>
                  <a:pt x="27177" y="3588964"/>
                </a:lnTo>
                <a:cubicBezTo>
                  <a:pt x="220245" y="3255048"/>
                  <a:pt x="440895" y="2873431"/>
                  <a:pt x="693065" y="2437296"/>
                </a:cubicBezTo>
                <a:cubicBezTo>
                  <a:pt x="824063" y="2211072"/>
                  <a:pt x="1059859" y="2071857"/>
                  <a:pt x="1321854" y="2071857"/>
                </a:cubicBezTo>
                <a:close/>
                <a:moveTo>
                  <a:pt x="6786399" y="753840"/>
                </a:moveTo>
                <a:cubicBezTo>
                  <a:pt x="6786399" y="753840"/>
                  <a:pt x="6786399" y="753840"/>
                  <a:pt x="8025968" y="753840"/>
                </a:cubicBezTo>
                <a:cubicBezTo>
                  <a:pt x="8103608" y="753840"/>
                  <a:pt x="8178571" y="796518"/>
                  <a:pt x="8216053" y="865869"/>
                </a:cubicBezTo>
                <a:cubicBezTo>
                  <a:pt x="8216053" y="865869"/>
                  <a:pt x="8216053" y="865869"/>
                  <a:pt x="8837177" y="1935484"/>
                </a:cubicBezTo>
                <a:cubicBezTo>
                  <a:pt x="8877335" y="2002169"/>
                  <a:pt x="8877335" y="2087523"/>
                  <a:pt x="8837177" y="2154207"/>
                </a:cubicBezTo>
                <a:cubicBezTo>
                  <a:pt x="8837177" y="2154207"/>
                  <a:pt x="8837177" y="2154207"/>
                  <a:pt x="8216053" y="3223823"/>
                </a:cubicBezTo>
                <a:cubicBezTo>
                  <a:pt x="8178571" y="3293174"/>
                  <a:pt x="8103608" y="3335852"/>
                  <a:pt x="8025968" y="3335852"/>
                </a:cubicBezTo>
                <a:cubicBezTo>
                  <a:pt x="8025968" y="3335852"/>
                  <a:pt x="8025968" y="3335852"/>
                  <a:pt x="6786399" y="3335852"/>
                </a:cubicBezTo>
                <a:cubicBezTo>
                  <a:pt x="6706082" y="3335852"/>
                  <a:pt x="6633796" y="3293174"/>
                  <a:pt x="6593637" y="3223823"/>
                </a:cubicBezTo>
                <a:cubicBezTo>
                  <a:pt x="6593637" y="3223823"/>
                  <a:pt x="6593637" y="3223823"/>
                  <a:pt x="5975192" y="2154207"/>
                </a:cubicBezTo>
                <a:cubicBezTo>
                  <a:pt x="5935033" y="2087523"/>
                  <a:pt x="5935033" y="2002169"/>
                  <a:pt x="5975192" y="1935484"/>
                </a:cubicBezTo>
                <a:cubicBezTo>
                  <a:pt x="5975192" y="1935484"/>
                  <a:pt x="5975192" y="1935484"/>
                  <a:pt x="6593637" y="865869"/>
                </a:cubicBezTo>
                <a:cubicBezTo>
                  <a:pt x="6633796" y="796518"/>
                  <a:pt x="6706082" y="753840"/>
                  <a:pt x="6786399" y="753840"/>
                </a:cubicBezTo>
                <a:close/>
                <a:moveTo>
                  <a:pt x="0" y="0"/>
                </a:moveTo>
                <a:lnTo>
                  <a:pt x="6966294" y="0"/>
                </a:lnTo>
                <a:lnTo>
                  <a:pt x="6852387" y="196155"/>
                </a:lnTo>
                <a:cubicBezTo>
                  <a:pt x="6627011" y="584267"/>
                  <a:pt x="6359899" y="1044253"/>
                  <a:pt x="6043322" y="1589421"/>
                </a:cubicBezTo>
                <a:cubicBezTo>
                  <a:pt x="5921057" y="1815646"/>
                  <a:pt x="5676528" y="1954861"/>
                  <a:pt x="5423265" y="1954861"/>
                </a:cubicBezTo>
                <a:cubicBezTo>
                  <a:pt x="5423265" y="1954861"/>
                  <a:pt x="5423265" y="1954861"/>
                  <a:pt x="1379802" y="1954861"/>
                </a:cubicBezTo>
                <a:cubicBezTo>
                  <a:pt x="1117807" y="1954861"/>
                  <a:pt x="882012" y="1815646"/>
                  <a:pt x="751013" y="1589421"/>
                </a:cubicBezTo>
                <a:cubicBezTo>
                  <a:pt x="751013" y="1589421"/>
                  <a:pt x="751013" y="1589421"/>
                  <a:pt x="1951" y="293901"/>
                </a:cubicBezTo>
                <a:lnTo>
                  <a:pt x="0" y="290527"/>
                </a:ln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55530-F36C-2C12-EDBA-0D74EB72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6903" y="385179"/>
            <a:ext cx="3877302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Prof. Ashraf Fawzy Nabhan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3A6AA-05F1-416B-7F47-1A11D69F95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9962" y="5519016"/>
            <a:ext cx="2184243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7-Feb-2026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CEF42-FA33-5AC4-22E5-0EBD48991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rgbClr val="7F7F7F"/>
          </a:solidFill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3FB75D3B-C11D-4499-842A-56A8EC65D8FA}" type="slidenum">
              <a:rPr lang="en-US">
                <a:solidFill>
                  <a:srgbClr val="FFFFFF"/>
                </a:solidFill>
              </a:rPr>
              <a:pPr algn="ctr">
                <a:spcAft>
                  <a:spcPts val="600"/>
                </a:spcAft>
              </a:pPr>
              <a:t>52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187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198F-820B-C2B9-F3A0-B3B2604F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14C8C-4309-6F40-E975-96931EFE5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Brainstorming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5056C-2613-4D68-E4C0-E7BA4AFD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7-Feb-2026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F765C-FE06-28B8-B051-BACBF292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Prof. Ashraf Fawzy Nabhan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089D4-4BC7-069F-2AC5-5FB997B2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796F1F-455F-1E4C-8CA1-96303796BDF5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122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6774</TotalTime>
  <Words>1964</Words>
  <Application>Microsoft Macintosh PowerPoint</Application>
  <PresentationFormat>Widescreen</PresentationFormat>
  <Paragraphs>416</Paragraphs>
  <Slides>53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ＭＳ Ｐゴシック</vt:lpstr>
      <vt:lpstr>Aptos</vt:lpstr>
      <vt:lpstr>Aptos Display</vt:lpstr>
      <vt:lpstr>Arial</vt:lpstr>
      <vt:lpstr>Calibri</vt:lpstr>
      <vt:lpstr>Courier New</vt:lpstr>
      <vt:lpstr>Helvetica</vt:lpstr>
      <vt:lpstr>Symbol</vt:lpstr>
      <vt:lpstr>Tahoma</vt:lpstr>
      <vt:lpstr>Times New Roman</vt:lpstr>
      <vt:lpstr>Wingdings</vt:lpstr>
      <vt:lpstr>Office Theme</vt:lpstr>
      <vt:lpstr>Designing clinical research</vt:lpstr>
      <vt:lpstr>Clinical Research</vt:lpstr>
      <vt:lpstr>Essential documents</vt:lpstr>
      <vt:lpstr>The protocol</vt:lpstr>
      <vt:lpstr>Today, we shall learn how to</vt:lpstr>
      <vt:lpstr>Sample Size and Power</vt:lpstr>
      <vt:lpstr>The key to healthy urinary tract</vt:lpstr>
      <vt:lpstr>What I want to show</vt:lpstr>
      <vt:lpstr>Ingredients for Estimating Sample Size</vt:lpstr>
      <vt:lpstr> Sample Size Ingredients</vt:lpstr>
      <vt:lpstr>My research question</vt:lpstr>
      <vt:lpstr>What’s wrong?</vt:lpstr>
      <vt:lpstr>“Consuming cranberry”</vt:lpstr>
      <vt:lpstr>An alternative to “Consuming cranberry”</vt:lpstr>
      <vt:lpstr>I need a measurable endpoint</vt:lpstr>
      <vt:lpstr>The question is getting better</vt:lpstr>
      <vt:lpstr>But we must Specify the population</vt:lpstr>
      <vt:lpstr>The research hypothesis</vt:lpstr>
      <vt:lpstr>The Null Hypothesis</vt:lpstr>
      <vt:lpstr> Sample Size Ingredients</vt:lpstr>
      <vt:lpstr>Descriptive studies</vt:lpstr>
      <vt:lpstr>Analytical studies</vt:lpstr>
      <vt:lpstr> Sample Size Ingredients</vt:lpstr>
      <vt:lpstr>Estimating the effect size</vt:lpstr>
      <vt:lpstr>The effect of cranberry on risk of UTI</vt:lpstr>
      <vt:lpstr> Sample Size Ingredients</vt:lpstr>
      <vt:lpstr>𝝰 (alfa): false positive (Type I error)</vt:lpstr>
      <vt:lpstr>Two-sided vs. one-sided 𝝰</vt:lpstr>
      <vt:lpstr>One-sided 𝝰 </vt:lpstr>
      <vt:lpstr>ß (beta): false negative (Type II error)</vt:lpstr>
      <vt:lpstr>I really don’t want to miss it</vt:lpstr>
      <vt:lpstr>We have all the ingredients</vt:lpstr>
      <vt:lpstr>How to get the estimates</vt:lpstr>
      <vt:lpstr>Online calculator</vt:lpstr>
      <vt:lpstr>Common sample size mistakes</vt:lpstr>
      <vt:lpstr>PowerPoint Presentation</vt:lpstr>
      <vt:lpstr>Data collection form</vt:lpstr>
      <vt:lpstr>Data Collection Form</vt:lpstr>
      <vt:lpstr>Data Collection Forms</vt:lpstr>
      <vt:lpstr>Advantages of electronic Forms</vt:lpstr>
      <vt:lpstr>Web-Based Data Collection Forms</vt:lpstr>
      <vt:lpstr>Principles: Clarity is the keyword</vt:lpstr>
      <vt:lpstr>Principles: Clarity is the keyword</vt:lpstr>
      <vt:lpstr>Raw data, not calculated data</vt:lpstr>
      <vt:lpstr>Fields</vt:lpstr>
      <vt:lpstr>Yes/No fields</vt:lpstr>
      <vt:lpstr>MECE fields</vt:lpstr>
      <vt:lpstr>Data Dictionary</vt:lpstr>
      <vt:lpstr>A poorly designed form</vt:lpstr>
      <vt:lpstr>Well designed form Plus coding</vt:lpstr>
      <vt:lpstr>Test Your Form!</vt:lpstr>
      <vt:lpstr>PowerPoint Presentation</vt:lpstr>
      <vt:lpstr>Proposals</vt:lpstr>
    </vt:vector>
  </TitlesOfParts>
  <Company>UCSF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Kohn</dc:creator>
  <cp:lastModifiedBy>Ashraf Nabhan</cp:lastModifiedBy>
  <cp:revision>302</cp:revision>
  <cp:lastPrinted>2000-04-18T16:33:42Z</cp:lastPrinted>
  <dcterms:created xsi:type="dcterms:W3CDTF">2000-04-14T18:01:46Z</dcterms:created>
  <dcterms:modified xsi:type="dcterms:W3CDTF">2026-02-06T18:14:03Z</dcterms:modified>
</cp:coreProperties>
</file>